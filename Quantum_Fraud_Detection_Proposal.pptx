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Quantum-Enhanced Fraud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Investment Proposal |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0C0"/>
                </a:solidFill>
              </a:defRPr>
            </a:pPr>
            <a:r>
              <a:t>Fraud Detection +20%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371600"/>
            <a:ext cx="3474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0C0"/>
                </a:solidFill>
              </a:defRPr>
            </a:pPr>
            <a:r>
              <a:t>False Positives -40%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371600"/>
            <a:ext cx="3474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70C0"/>
                </a:solidFill>
              </a:defRPr>
            </a:pPr>
            <a:r>
              <a:t>ROI +271%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Investment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Investment (Year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₹3.5 Crore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Expected Annual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₹13 Crore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Net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+271%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Payback 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4 months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3-Year NPV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₹28+ Crore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5-Tier Fraud Detection Architecture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Accuracy Gain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50 real-time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&lt; 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200 ML features (XGBoost)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&lt; 100ms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+8%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Quantum weight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+5%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Quantum Monte Carlo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+2%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Quantum graph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Batch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+5%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    TRANSACTION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        │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        ▼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│  CLASSICAL LAYER (Real-time)       │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│  • 50 rules (&lt; 50ms)               │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│  • ML scoring (&lt; 100ms)            │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└─────────────┬───────────────────────┘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              │  Uncertain cases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              ▼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│  QUANTUM LAYER (Background)         │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│  • Weight optimization              │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│  • Rare event simulation            │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│  • Fraud ring detection            │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│  (Zero latency impact)             │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Cost Breakdown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Data engineering &amp;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₹20L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ML models &amp;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₹35L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Quantum bridge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₹25L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Hybrid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₹40L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Training &amp; certifications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₹15L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Contingency (15%)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₹22L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Total CapEx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₹1.57 Cr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OpEx (Monthly)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Cloud compute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₹8L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OpEx (Monthly)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Quantum API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₹15L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OpEx (Monthly)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Quantum specialist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₹5L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Total OpEx (Year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₹3.06 Cr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TOTAL 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₹3.5 Crore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ROI Breakdown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Benefit Category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Calculation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Fraud detected (+15%)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15% × ₹40Cr existing prevention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+₹6Cr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False positive reduction (-40%)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Fewer wrongly blocked customers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+₹5Cr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Operational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20% less manual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+₹1.5Cr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Regulatory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Reduced chargebacks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+₹0.5Cr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TOTAL ANNUAL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₹13 Crore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Implementation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Month:       1      2      3      4      5      6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             │      │      │      │      │      │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Phase 1      ████████████████████████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             Rules    ML      Complete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             Setup    Model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Phase 2                       ████████████████████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                              Quantum   Bridge    Production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                              Setup     Dev       Rollout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Milestones:    Month 3: Foundation Ready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               Month 4: Quantum Ready</a:t>
            </a:r>
          </a:p>
          <a:p>
            <a:pPr>
              <a:defRPr sz="1800">
                <a:solidFill>
                  <a:srgbClr val="404040"/>
                </a:solidFill>
                <a:latin typeface="Courier New"/>
              </a:defRPr>
            </a:pPr>
            <a:r>
              <a:t>               Month 6: Full Hybrid Live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Risk Mitigation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Likelihood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Quantum HW unavailable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Falls back to classical-only mode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Integration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Phased rollout with rollback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Team upskilling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External consultants + certifications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Provider downtime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Multi-provider redundancy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Quantum Now?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Classical Only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Hybrid Approach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Fraud detection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+20% improvement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False positive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-40% reduction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Model update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Weekly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Daily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Rare event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Competitive edge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404040"/>
                          </a:solidFill>
                        </a:defRPr>
                      </a:pPr>
                      <a:r>
                        <a:t>First-mover in sector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Recommended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Phase 1: Approve ₹1.5 Crore (Now)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    • Build classical foundation (Tier 1-2)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    • Select quantum provider (IBM/AWS/Azure)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    • Design hybrid architecture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    • Validated baseline at Month 3</a:t>
            </a:r>
          </a:p>
          <a:p>
            <a:pPr>
              <a:defRPr sz="2000">
                <a:solidFill>
                  <a:srgbClr val="404040"/>
                </a:solidFill>
              </a:defRPr>
            </a:pP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Phase 2: Month 4 Decision (₹2 Crore)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    • Full quantum integration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    • Production rollout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    • Conditional on Phase 1 validation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404040"/>
                </a:solidFill>
              </a:defRPr>
            </a:pPr>
            <a:r>
              <a:t>Week 1-2:   Sign quantum provider contracts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Week 2-4:   Assign quantum-specialized data scientist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Week 4-8:   Build classical foundation (Tier 1-2)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Week 8-12:  Develop quantum integration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Month 4:    Phase 1 validation &amp; Phase 2 approval</a:t>
            </a:r>
          </a:p>
          <a:p>
            <a:pPr>
              <a:defRPr sz="2000">
                <a:solidFill>
                  <a:srgbClr val="404040"/>
                </a:solidFill>
              </a:defRPr>
            </a:pPr>
            <a:r>
              <a:t>Month 6:    Full hybrid system live in production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Our Ask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1097280"/>
          </a:xfrm>
          <a:prstGeom prst="roundRect">
            <a:avLst/>
          </a:prstGeom>
          <a:solidFill>
            <a:srgbClr val="D9E2F3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</a:defRPr>
            </a:pPr>
            <a:r>
              <a:t>Approve Phase 1: ₹1.5 Crore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200">
                <a:solidFill>
                  <a:srgbClr val="404040"/>
                </a:solidFill>
              </a:defRPr>
            </a:pPr>
            <a:r>
              <a:t>✓ ₹3.5 Crore total investment | ₹13 Crore annual benefit</a:t>
            </a:r>
          </a:p>
          <a:p>
            <a:pPr>
              <a:spcBef>
                <a:spcPts val="1000"/>
              </a:spcBef>
              <a:defRPr sz="2200">
                <a:solidFill>
                  <a:srgbClr val="404040"/>
                </a:solidFill>
              </a:defRPr>
            </a:pPr>
            <a:r>
              <a:t>✓ +271% ROI with 4-month payback period</a:t>
            </a:r>
          </a:p>
          <a:p>
            <a:pPr>
              <a:spcBef>
                <a:spcPts val="1000"/>
              </a:spcBef>
              <a:defRPr sz="2200">
                <a:solidFill>
                  <a:srgbClr val="404040"/>
                </a:solidFill>
              </a:defRPr>
            </a:pPr>
            <a:r>
              <a:t>✓ Low risk with phased approach — quantum runs in background</a:t>
            </a:r>
          </a:p>
          <a:p>
            <a:pPr>
              <a:spcBef>
                <a:spcPts val="1000"/>
              </a:spcBef>
              <a:defRPr sz="2200">
                <a:solidFill>
                  <a:srgbClr val="404040"/>
                </a:solidFill>
              </a:defRPr>
            </a:pPr>
            <a:r>
              <a:t>✓ First-mover competitive advantage in our sector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Contact your Data Science Team |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