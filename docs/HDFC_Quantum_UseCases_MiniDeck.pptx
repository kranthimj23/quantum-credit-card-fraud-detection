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SECTION B • THE PROOF → SECTION C • BEYOND CREDIT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96012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Six use cases at HDFC — and an honest timeline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9525"/>
          </a:xfrm>
          <a:prstGeom prst="rect">
            <a:avLst/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dfc_ba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365760"/>
            <a:ext cx="132588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AA5BC"/>
                </a:solidFill>
                <a:latin typeface="Calibri"/>
              </a:rPr>
              <a:t>HDFC Bank • Quantum Computing Strategy •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AA5BC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E6EAF2"/>
                </a:solidFill>
                <a:latin typeface="Calibri"/>
              </a:rPr>
              <a:t>Where quantum wins for HDFC — same plumbing, same talent, multiplied across business lines.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783080"/>
            <a:ext cx="3721608" cy="100584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" cy="100584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856232"/>
            <a:ext cx="335584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Credit-card fraud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112264"/>
            <a:ext cx="3355848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1">
                <a:solidFill>
                  <a:srgbClr val="ED232A"/>
                </a:solidFill>
                <a:latin typeface="Calibri"/>
              </a:rPr>
              <a:t>Cards,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313432"/>
            <a:ext cx="3392424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6EAF2"/>
                </a:solidFill>
                <a:latin typeface="Calibri"/>
              </a:rPr>
              <a:t>Non-linear rare-event recall — sim-swap rings, micro card-testing, ATO trajectories.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783080"/>
            <a:ext cx="3721608" cy="100584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783080"/>
            <a:ext cx="54864" cy="100584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7992" y="1856232"/>
            <a:ext cx="335584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AML / transaction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2112264"/>
            <a:ext cx="3355848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1">
                <a:solidFill>
                  <a:srgbClr val="ED232A"/>
                </a:solidFill>
                <a:latin typeface="Calibri"/>
              </a:rPr>
              <a:t>Compliance,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2313432"/>
            <a:ext cx="3392424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6EAF2"/>
                </a:solidFill>
                <a:latin typeface="Calibri"/>
              </a:rPr>
              <a:t>Graph anomaly detection across multi-hop laundering rings; quantum walks find suspicious sub-graphs.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783080"/>
            <a:ext cx="3721608" cy="100584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783080"/>
            <a:ext cx="54864" cy="1005840"/>
          </a:xfrm>
          <a:prstGeom prst="rect">
            <a:avLst/>
          </a:prstGeom>
          <a:solidFill>
            <a:srgbClr val="F5B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1856232"/>
            <a:ext cx="335584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Portfolio optimisation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112264"/>
            <a:ext cx="3355848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1">
                <a:solidFill>
                  <a:srgbClr val="F5B72E"/>
                </a:solidFill>
                <a:latin typeface="Calibri"/>
              </a:rPr>
              <a:t>Treasury, Wealth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2313432"/>
            <a:ext cx="3392424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6EAF2"/>
                </a:solidFill>
                <a:latin typeface="Calibri"/>
              </a:rPr>
              <a:t>QAOA / Grover-based search on 1,000+ asset allocations under regulatory + liquidity constraints.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880360"/>
            <a:ext cx="3721608" cy="100584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2880360"/>
            <a:ext cx="54864" cy="100584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2953512"/>
            <a:ext cx="335584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Derivatives pricing &amp; XVA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3209544"/>
            <a:ext cx="3355848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1">
                <a:solidFill>
                  <a:srgbClr val="2EC4B6"/>
                </a:solidFill>
                <a:latin typeface="Calibri"/>
              </a:rPr>
              <a:t>Markets, ALM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3410712"/>
            <a:ext cx="3392424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6EAF2"/>
                </a:solidFill>
                <a:latin typeface="Calibri"/>
              </a:rPr>
              <a:t>Quantum amplitude estimation — quadratic Monte Carlo speed-up; lower CVA/FVA capital.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43400" y="2880360"/>
            <a:ext cx="3721608" cy="100584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43400" y="2880360"/>
            <a:ext cx="54864" cy="1005840"/>
          </a:xfrm>
          <a:prstGeom prst="rect">
            <a:avLst/>
          </a:prstGeom>
          <a:solidFill>
            <a:srgbClr val="F5B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07992" y="2953512"/>
            <a:ext cx="335584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KYC / synthetic identity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07992" y="3209544"/>
            <a:ext cx="3355848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1">
                <a:solidFill>
                  <a:srgbClr val="F5B72E"/>
                </a:solidFill>
                <a:latin typeface="Calibri"/>
              </a:rPr>
              <a:t>Onboarding, KYC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7992" y="3410712"/>
            <a:ext cx="3392424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6EAF2"/>
                </a:solidFill>
                <a:latin typeface="Calibri"/>
              </a:rPr>
              <a:t>High-dim similarity search across device + biometric + behavioural feature space.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2880360"/>
            <a:ext cx="3721608" cy="100584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2880360"/>
            <a:ext cx="54864" cy="100584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94192" y="2953512"/>
            <a:ext cx="335584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Underwriting (thin-file)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94192" y="3209544"/>
            <a:ext cx="3355848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1">
                <a:solidFill>
                  <a:srgbClr val="2EC4B6"/>
                </a:solidFill>
                <a:latin typeface="Calibri"/>
              </a:rPr>
              <a:t>Retail Lending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94192" y="3410712"/>
            <a:ext cx="3392424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6EAF2"/>
                </a:solidFill>
                <a:latin typeface="Calibri"/>
              </a:rPr>
              <a:t>Quantum kernels on alternative data (telco, utility, social-graph) for SME / new-to-credit.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393192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F5B72E"/>
                </a:solidFill>
                <a:latin typeface="Calibri"/>
              </a:rPr>
              <a:t>Reality check — not magic, a 24-month head-start with off-ramps.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4251960"/>
            <a:ext cx="3721608" cy="192024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4251960"/>
            <a:ext cx="3721608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370832"/>
            <a:ext cx="335584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EC4B6"/>
                </a:solidFill>
                <a:latin typeface="Calibri"/>
              </a:rPr>
              <a:t>TODAY (2024-25) — NISQ era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4709160"/>
            <a:ext cx="3355848" cy="14630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2EC4B6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50–150 noisy qubits; runs on </a:t>
            </a:r>
            <a:r>
              <a:rPr sz="1000" b="1">
                <a:solidFill>
                  <a:srgbClr val="E6EAF2"/>
                </a:solidFill>
                <a:latin typeface="Calibri"/>
              </a:rPr>
              <a:t>simulators</a:t>
            </a:r>
            <a:r>
              <a:rPr sz="1000" b="0">
                <a:solidFill>
                  <a:srgbClr val="E6EAF2"/>
                </a:solidFill>
                <a:latin typeface="Calibri"/>
              </a:rPr>
              <a:t>, real HW for demos.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2EC4B6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Wins on </a:t>
            </a:r>
            <a:r>
              <a:rPr sz="1000" b="1">
                <a:solidFill>
                  <a:srgbClr val="E6EAF2"/>
                </a:solidFill>
                <a:latin typeface="Calibri"/>
              </a:rPr>
              <a:t>rare-event recall</a:t>
            </a:r>
            <a:r>
              <a:rPr sz="1000" b="0">
                <a:solidFill>
                  <a:srgbClr val="E6EAF2"/>
                </a:solidFill>
                <a:latin typeface="Calibri"/>
              </a:rPr>
              <a:t>, not throughput.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2EC4B6"/>
                </a:solidFill>
                <a:latin typeface="Calibri"/>
              </a:rPr>
              <a:t>■  </a:t>
            </a:r>
            <a:r>
              <a:rPr sz="1000" b="1">
                <a:solidFill>
                  <a:srgbClr val="E6EAF2"/>
                </a:solidFill>
                <a:latin typeface="Calibri"/>
              </a:rPr>
              <a:t>Hybrid serving is the right answer</a:t>
            </a:r>
            <a:r>
              <a:rPr sz="1000" b="0">
                <a:solidFill>
                  <a:srgbClr val="E6EAF2"/>
                </a:solidFill>
                <a:latin typeface="Calibri"/>
              </a:rPr>
              <a:t> — quantum re-scores top 1%.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43400" y="4251960"/>
            <a:ext cx="3721608" cy="192024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43400" y="4251960"/>
            <a:ext cx="3721608" cy="45720"/>
          </a:xfrm>
          <a:prstGeom prst="rect">
            <a:avLst/>
          </a:prstGeom>
          <a:solidFill>
            <a:srgbClr val="F5B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26280" y="4370832"/>
            <a:ext cx="335584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2027 — mid-term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26280" y="4709160"/>
            <a:ext cx="3355848" cy="14630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F5B72E"/>
                </a:solidFill>
                <a:latin typeface="Calibri"/>
              </a:rPr>
              <a:t>■  </a:t>
            </a:r>
            <a:r>
              <a:rPr sz="1000" b="1">
                <a:solidFill>
                  <a:srgbClr val="E6EAF2"/>
                </a:solidFill>
                <a:latin typeface="Calibri"/>
              </a:rPr>
              <a:t>500–1,000+ qubits</a:t>
            </a:r>
            <a:r>
              <a:rPr sz="1000" b="0">
                <a:solidFill>
                  <a:srgbClr val="E6EAF2"/>
                </a:solidFill>
                <a:latin typeface="Calibri"/>
              </a:rPr>
              <a:t>, error mitigation maturing.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F5B72E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Quantum kernels viable for </a:t>
            </a:r>
            <a:r>
              <a:rPr sz="1000" b="1">
                <a:solidFill>
                  <a:srgbClr val="E6EAF2"/>
                </a:solidFill>
                <a:latin typeface="Calibri"/>
              </a:rPr>
              <a:t>30–100 features</a:t>
            </a:r>
            <a:r>
              <a:rPr sz="1000" b="0">
                <a:solidFill>
                  <a:srgbClr val="E6EAF2"/>
                </a:solidFill>
                <a:latin typeface="Calibri"/>
              </a:rPr>
              <a:t> in production.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F5B72E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First </a:t>
            </a:r>
            <a:r>
              <a:rPr sz="1000" b="1">
                <a:solidFill>
                  <a:srgbClr val="E6EAF2"/>
                </a:solidFill>
                <a:latin typeface="Calibri"/>
              </a:rPr>
              <a:t>regulated banks</a:t>
            </a:r>
            <a:r>
              <a:rPr sz="1000" b="0">
                <a:solidFill>
                  <a:srgbClr val="E6EAF2"/>
                </a:solidFill>
                <a:latin typeface="Calibri"/>
              </a:rPr>
              <a:t> putting quantum into tier-2 risk decisions.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29600" y="4251960"/>
            <a:ext cx="3721608" cy="192024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229600" y="4251960"/>
            <a:ext cx="3721608" cy="457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0" y="4370832"/>
            <a:ext cx="335584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D232A"/>
                </a:solidFill>
                <a:latin typeface="Calibri"/>
              </a:rPr>
              <a:t>2030 — long-term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4709160"/>
            <a:ext cx="3355848" cy="14630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232A"/>
                </a:solidFill>
                <a:latin typeface="Calibri"/>
              </a:rPr>
              <a:t>■  </a:t>
            </a:r>
            <a:r>
              <a:rPr sz="1000" b="1">
                <a:solidFill>
                  <a:srgbClr val="E6EAF2"/>
                </a:solidFill>
                <a:latin typeface="Calibri"/>
              </a:rPr>
              <a:t>Fault-tolerant</a:t>
            </a:r>
            <a:r>
              <a:rPr sz="1000" b="0">
                <a:solidFill>
                  <a:srgbClr val="E6EAF2"/>
                </a:solidFill>
                <a:latin typeface="Calibri"/>
              </a:rPr>
              <a:t> for select workloads.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232A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Advantage on optimisation, derivatives, AML graph search.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232A"/>
                </a:solidFill>
                <a:latin typeface="Calibri"/>
              </a:rPr>
              <a:t>■  </a:t>
            </a:r>
            <a:r>
              <a:rPr sz="1000" b="1">
                <a:solidFill>
                  <a:srgbClr val="E6EAF2"/>
                </a:solidFill>
                <a:latin typeface="Calibri"/>
              </a:rPr>
              <a:t>Late entrants</a:t>
            </a:r>
            <a:r>
              <a:rPr sz="1000" b="0">
                <a:solidFill>
                  <a:srgbClr val="E6EAF2"/>
                </a:solidFill>
                <a:latin typeface="Calibri"/>
              </a:rPr>
              <a:t> face a 3–5 year talent + IP gap.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6263640"/>
            <a:ext cx="11247120" cy="36576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The bet is organisational learning, not raw FLOPs</a:t>
            </a:r>
            <a:r>
              <a:rPr sz="1100" b="1" i="0">
                <a:solidFill>
                  <a:srgbClr val="F5B72E"/>
                </a:solidFill>
                <a:latin typeface="Calibri"/>
              </a:rPr>
              <a:t> — the team and IP we build 2025–2027 is the moat.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FLAGSHIP USE CASE • CARDS,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96012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Use case #1 — Credit-card fraud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9525"/>
          </a:xfrm>
          <a:prstGeom prst="rect">
            <a:avLst/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dfc_ba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365760"/>
            <a:ext cx="132588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AA5BC"/>
                </a:solidFill>
                <a:latin typeface="Calibri"/>
              </a:rPr>
              <a:t>HDFC Bank • Quantum Computing Strategy •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AA5BC"/>
                </a:solidFill>
                <a:latin typeface="Calibri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17320"/>
            <a:ext cx="5550408" cy="242316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5550408" cy="54864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36192"/>
            <a:ext cx="518464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ED232A"/>
                </a:solidFill>
                <a:latin typeface="Calibri"/>
              </a:rPr>
              <a:t>1. The problem at HDFC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920240"/>
            <a:ext cx="5184648" cy="18745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ED232A"/>
                </a:solidFill>
                <a:latin typeface="Calibri"/>
              </a:rPr>
              <a:t>■  </a:t>
            </a:r>
            <a:r>
              <a:rPr sz="1000" b="1">
                <a:solidFill>
                  <a:srgbClr val="E6EAF2"/>
                </a:solidFill>
                <a:latin typeface="Calibri"/>
              </a:rPr>
              <a:t>~10 Cr+ card transactions / month</a:t>
            </a:r>
            <a:r>
              <a:rPr sz="1000" b="0">
                <a:solidFill>
                  <a:srgbClr val="E6EAF2"/>
                </a:solidFill>
                <a:latin typeface="Calibri"/>
              </a:rPr>
              <a:t> through HDFC issuing &amp; acquiring rails.</a:t>
            </a:r>
          </a:p>
          <a:p>
            <a:pPr algn="l">
              <a:lnSpc>
                <a:spcPct val="112000"/>
              </a:lnSpc>
            </a:pPr>
            <a:r>
              <a:rPr sz="1000" b="1">
                <a:solidFill>
                  <a:srgbClr val="ED232A"/>
                </a:solidFill>
                <a:latin typeface="Calibri"/>
              </a:rPr>
              <a:t>■  </a:t>
            </a:r>
            <a:r>
              <a:rPr sz="1000" b="1">
                <a:solidFill>
                  <a:srgbClr val="E6EAF2"/>
                </a:solidFill>
                <a:latin typeface="Calibri"/>
              </a:rPr>
              <a:t>Fraud rate 0.05–0.2%</a:t>
            </a:r>
            <a:r>
              <a:rPr sz="1000" b="0">
                <a:solidFill>
                  <a:srgbClr val="E6EAF2"/>
                </a:solidFill>
                <a:latin typeface="Calibri"/>
              </a:rPr>
              <a:t> — needle in a haystack (~1:1,000).</a:t>
            </a:r>
          </a:p>
          <a:p>
            <a:pPr algn="l">
              <a:lnSpc>
                <a:spcPct val="112000"/>
              </a:lnSpc>
            </a:pPr>
            <a:r>
              <a:rPr sz="1000" b="1">
                <a:solidFill>
                  <a:srgbClr val="ED232A"/>
                </a:solidFill>
                <a:latin typeface="Calibri"/>
              </a:rPr>
              <a:t>■  </a:t>
            </a:r>
            <a:r>
              <a:rPr sz="1000" b="1">
                <a:solidFill>
                  <a:srgbClr val="E6EAF2"/>
                </a:solidFill>
                <a:latin typeface="Calibri"/>
              </a:rPr>
              <a:t>Industry losses</a:t>
            </a:r>
            <a:r>
              <a:rPr sz="1000" b="0">
                <a:solidFill>
                  <a:srgbClr val="E6EAF2"/>
                </a:solidFill>
                <a:latin typeface="Calibri"/>
              </a:rPr>
              <a:t>: Rs ~1,300 Cr in FY24, </a:t>
            </a:r>
            <a:r>
              <a:rPr sz="1000" b="1">
                <a:solidFill>
                  <a:srgbClr val="E6EAF2"/>
                </a:solidFill>
                <a:latin typeface="Calibri"/>
              </a:rPr>
              <a:t>+20%+ YoY</a:t>
            </a:r>
            <a:r>
              <a:rPr sz="1000" b="0">
                <a:solidFill>
                  <a:srgbClr val="E6EAF2"/>
                </a:solidFill>
                <a:latin typeface="Calibri"/>
              </a:rPr>
              <a:t>.</a:t>
            </a:r>
          </a:p>
          <a:p>
            <a:pPr algn="l">
              <a:lnSpc>
                <a:spcPct val="112000"/>
              </a:lnSpc>
            </a:pPr>
            <a:r>
              <a:rPr sz="1000" b="1">
                <a:solidFill>
                  <a:srgbClr val="ED232A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Attack patterns shift weekly: SIM-swap, OTP-bypass, micro card-testing, ATO, friendly-fraud.</a:t>
            </a:r>
          </a:p>
          <a:p>
            <a:pPr algn="l">
              <a:lnSpc>
                <a:spcPct val="112000"/>
              </a:lnSpc>
            </a:pPr>
            <a:r>
              <a:rPr sz="1000" b="1">
                <a:solidFill>
                  <a:srgbClr val="ED232A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Every </a:t>
            </a:r>
            <a:r>
              <a:rPr sz="1000" b="1">
                <a:solidFill>
                  <a:srgbClr val="E6EAF2"/>
                </a:solidFill>
                <a:latin typeface="Calibri"/>
              </a:rPr>
              <a:t>false decline on a premium card</a:t>
            </a:r>
            <a:r>
              <a:rPr sz="1000" b="0">
                <a:solidFill>
                  <a:srgbClr val="E6EAF2"/>
                </a:solidFill>
                <a:latin typeface="Calibri"/>
              </a:rPr>
              <a:t> erodes wallet share + NPS.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417320"/>
            <a:ext cx="5550408" cy="242316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417320"/>
            <a:ext cx="5550408" cy="5486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536192"/>
            <a:ext cx="518464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EC4B6"/>
                </a:solidFill>
                <a:latin typeface="Calibri"/>
              </a:rPr>
              <a:t>2. Quantum approach — the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920240"/>
            <a:ext cx="5184648" cy="18745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2EC4B6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Features: </a:t>
            </a:r>
            <a:r>
              <a:rPr sz="1000" b="1">
                <a:solidFill>
                  <a:srgbClr val="E6EAF2"/>
                </a:solidFill>
                <a:latin typeface="Calibri"/>
              </a:rPr>
              <a:t>30 today → 500+ over 24 months</a:t>
            </a:r>
            <a:r>
              <a:rPr sz="1000" b="0">
                <a:solidFill>
                  <a:srgbClr val="E6EAF2"/>
                </a:solidFill>
                <a:latin typeface="Calibri"/>
              </a:rPr>
              <a:t> (device, geo, velocity, graph, biometrics).</a:t>
            </a:r>
          </a:p>
          <a:p>
            <a:pPr algn="l">
              <a:lnSpc>
                <a:spcPct val="112000"/>
              </a:lnSpc>
            </a:pPr>
            <a:r>
              <a:rPr sz="1000" b="1">
                <a:solidFill>
                  <a:srgbClr val="2EC4B6"/>
                </a:solidFill>
                <a:latin typeface="Calibri"/>
              </a:rPr>
              <a:t>■  </a:t>
            </a:r>
            <a:r>
              <a:rPr sz="1000" b="1">
                <a:solidFill>
                  <a:srgbClr val="E6EAF2"/>
                </a:solidFill>
                <a:latin typeface="Calibri"/>
              </a:rPr>
              <a:t>StandardScaler → SMOTE → PCA(k=6) → angle-rescale [−π, π]</a:t>
            </a:r>
            <a:r>
              <a:rPr sz="1000" b="0">
                <a:solidFill>
                  <a:srgbClr val="E6EAF2"/>
                </a:solidFill>
                <a:latin typeface="Calibri"/>
              </a:rPr>
              <a:t>.</a:t>
            </a:r>
          </a:p>
          <a:p>
            <a:pPr algn="l">
              <a:lnSpc>
                <a:spcPct val="112000"/>
              </a:lnSpc>
            </a:pPr>
            <a:r>
              <a:rPr sz="1000" b="1">
                <a:solidFill>
                  <a:srgbClr val="2EC4B6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Encode with </a:t>
            </a:r>
            <a:r>
              <a:rPr sz="1000" b="1">
                <a:solidFill>
                  <a:srgbClr val="E6EAF2"/>
                </a:solidFill>
                <a:latin typeface="Calibri"/>
              </a:rPr>
              <a:t>ZZFeatureMap</a:t>
            </a:r>
            <a:r>
              <a:rPr sz="1000" b="0">
                <a:solidFill>
                  <a:srgbClr val="E6EAF2"/>
                </a:solidFill>
                <a:latin typeface="Calibri"/>
              </a:rPr>
              <a:t> (RZ + RZZ entanglers; linear / circular / full).</a:t>
            </a:r>
          </a:p>
          <a:p>
            <a:pPr algn="l">
              <a:lnSpc>
                <a:spcPct val="112000"/>
              </a:lnSpc>
            </a:pPr>
            <a:r>
              <a:rPr sz="1000" b="1">
                <a:solidFill>
                  <a:srgbClr val="2EC4B6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Score with </a:t>
            </a:r>
            <a:r>
              <a:rPr sz="1000" b="1">
                <a:solidFill>
                  <a:srgbClr val="E6EAF2"/>
                </a:solidFill>
                <a:latin typeface="Calibri"/>
              </a:rPr>
              <a:t>QSVC quantum kernel</a:t>
            </a:r>
            <a:r>
              <a:rPr sz="1000" b="0">
                <a:solidFill>
                  <a:srgbClr val="E6EAF2"/>
                </a:solidFill>
                <a:latin typeface="Calibri"/>
              </a:rPr>
              <a:t> (FidelityQuantumKernel → SVM on Gram matrix).</a:t>
            </a:r>
          </a:p>
          <a:p>
            <a:pPr algn="l">
              <a:lnSpc>
                <a:spcPct val="112000"/>
              </a:lnSpc>
            </a:pPr>
            <a:r>
              <a:rPr sz="1000" b="1">
                <a:solidFill>
                  <a:srgbClr val="2EC4B6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Optimizer: </a:t>
            </a:r>
            <a:r>
              <a:rPr sz="1000" b="1">
                <a:solidFill>
                  <a:srgbClr val="E6EAF2"/>
                </a:solidFill>
                <a:latin typeface="Calibri"/>
              </a:rPr>
              <a:t>SPSA / COBYLA</a:t>
            </a:r>
            <a:r>
              <a:rPr sz="1000" b="0">
                <a:solidFill>
                  <a:srgbClr val="E6EAF2"/>
                </a:solidFill>
                <a:latin typeface="Calibri"/>
              </a:rPr>
              <a:t> on Aer simulator → IBM HW for top events.</a:t>
            </a:r>
          </a:p>
          <a:p>
            <a:pPr algn="l">
              <a:lnSpc>
                <a:spcPct val="112000"/>
              </a:lnSpc>
            </a:pPr>
            <a:r>
              <a:rPr sz="1000" b="1">
                <a:solidFill>
                  <a:srgbClr val="2EC4B6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Output: </a:t>
            </a:r>
            <a:r>
              <a:rPr sz="1000" b="1">
                <a:solidFill>
                  <a:srgbClr val="E6EAF2"/>
                </a:solidFill>
                <a:latin typeface="Calibri"/>
              </a:rPr>
              <a:t>parity decoder → calibrated P(fraud)</a:t>
            </a:r>
            <a:r>
              <a:rPr sz="1000" b="0">
                <a:solidFill>
                  <a:srgbClr val="E6EAF2"/>
                </a:solidFill>
                <a:latin typeface="Calibri"/>
              </a:rPr>
              <a:t> with confidence intervals.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005072"/>
            <a:ext cx="5550408" cy="242316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005072"/>
            <a:ext cx="5550408" cy="54864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23944"/>
            <a:ext cx="518464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  <a:latin typeface="Calibri"/>
              </a:rPr>
              <a:t>3. Where quantum wins (the numbers)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40080" y="4462272"/>
          <a:ext cx="493776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914400"/>
                <a:gridCol w="914400"/>
                <a:gridCol w="914400"/>
              </a:tblGrid>
              <a:tr h="27432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5B72E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5B72E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5B72E"/>
                          </a:solidFill>
                          <a:latin typeface="Calibri"/>
                        </a:rPr>
                        <a:t>QSVC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5B72E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6EAF2"/>
                          </a:solidFill>
                          <a:latin typeface="Calibri"/>
                        </a:rPr>
                        <a:t>AUC-ROC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6EAF2"/>
                          </a:solidFill>
                          <a:latin typeface="Calibri"/>
                        </a:rPr>
                        <a:t>0.989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6EAF2"/>
                          </a:solidFill>
                          <a:latin typeface="Calibri"/>
                        </a:rPr>
                        <a:t>0.992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ECC71"/>
                          </a:solidFill>
                          <a:latin typeface="Calibri"/>
                        </a:rPr>
                        <a:t>+0.3 pt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6EAF2"/>
                          </a:solidFill>
                          <a:latin typeface="Calibri"/>
                        </a:rPr>
                        <a:t>PR-AUC (rare-event)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6EAF2"/>
                          </a:solidFill>
                          <a:latin typeface="Calibri"/>
                        </a:rPr>
                        <a:t>0.864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6EAF2"/>
                          </a:solidFill>
                          <a:latin typeface="Calibri"/>
                        </a:rPr>
                        <a:t>0.901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ECC71"/>
                          </a:solidFill>
                          <a:latin typeface="Calibri"/>
                        </a:rPr>
                        <a:t>+3.7 pts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6EAF2"/>
                          </a:solidFill>
                          <a:latin typeface="Calibri"/>
                        </a:rPr>
                        <a:t>Recall @ 1% FPR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6EAF2"/>
                          </a:solidFill>
                          <a:latin typeface="Calibri"/>
                        </a:rPr>
                        <a:t>0.798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6EAF2"/>
                          </a:solidFill>
                          <a:latin typeface="Calibri"/>
                        </a:rPr>
                        <a:t>0.841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ECC71"/>
                          </a:solidFill>
                          <a:latin typeface="Calibri"/>
                        </a:rPr>
                        <a:t>+4.3 pts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40080" y="5788152"/>
            <a:ext cx="5184648" cy="5943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2ECC71"/>
                </a:solidFill>
                <a:latin typeface="Calibri"/>
              </a:rPr>
              <a:t>■  </a:t>
            </a:r>
            <a:r>
              <a:rPr sz="900" b="0">
                <a:solidFill>
                  <a:srgbClr val="E6EAF2"/>
                </a:solidFill>
                <a:latin typeface="Calibri"/>
              </a:rPr>
              <a:t>Translation: at the same false-alarm budget, QSVC catches </a:t>
            </a:r>
            <a:r>
              <a:rPr sz="900" b="1">
                <a:solidFill>
                  <a:srgbClr val="E6EAF2"/>
                </a:solidFill>
                <a:latin typeface="Calibri"/>
              </a:rPr>
              <a:t>~5% more fraud</a:t>
            </a:r>
            <a:r>
              <a:rPr sz="900" b="0">
                <a:solidFill>
                  <a:srgbClr val="E6EAF2"/>
                </a:solidFill>
                <a:latin typeface="Calibri"/>
              </a:rPr>
              <a:t> — the highest-value tail.</a:t>
            </a:r>
          </a:p>
          <a:p>
            <a:pPr algn="l">
              <a:lnSpc>
                <a:spcPct val="110000"/>
              </a:lnSpc>
            </a:pPr>
            <a:r>
              <a:rPr sz="900" b="1">
                <a:solidFill>
                  <a:srgbClr val="2ECC71"/>
                </a:solidFill>
                <a:latin typeface="Calibri"/>
              </a:rPr>
              <a:t>■  </a:t>
            </a:r>
            <a:r>
              <a:rPr sz="900" b="0">
                <a:solidFill>
                  <a:srgbClr val="E6EAF2"/>
                </a:solidFill>
                <a:latin typeface="Calibri"/>
              </a:rPr>
              <a:t>Patterns unlocked: </a:t>
            </a:r>
            <a:r>
              <a:rPr sz="900" b="1">
                <a:solidFill>
                  <a:srgbClr val="E6EAF2"/>
                </a:solidFill>
                <a:latin typeface="Calibri"/>
              </a:rPr>
              <a:t>spiral / interleaved manifolds</a:t>
            </a:r>
            <a:r>
              <a:rPr sz="900" b="0">
                <a:solidFill>
                  <a:srgbClr val="E6EAF2"/>
                </a:solidFill>
                <a:latin typeface="Calibri"/>
              </a:rPr>
              <a:t> (linear ~47% → ZZ ~78% on the tutorial sandbox).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005072"/>
            <a:ext cx="5550408" cy="242316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4005072"/>
            <a:ext cx="5550408" cy="54864"/>
          </a:xfrm>
          <a:prstGeom prst="rect">
            <a:avLst/>
          </a:prstGeom>
          <a:solidFill>
            <a:srgbClr val="F5B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4123944"/>
            <a:ext cx="518464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5B72E"/>
                </a:solidFill>
                <a:latin typeface="Calibri"/>
              </a:rPr>
              <a:t>4. Operating model in production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507992"/>
            <a:ext cx="5184648" cy="18745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F5B72E"/>
                </a:solidFill>
                <a:latin typeface="Calibri"/>
              </a:rPr>
              <a:t>■  </a:t>
            </a:r>
            <a:r>
              <a:rPr sz="1000" b="1">
                <a:solidFill>
                  <a:srgbClr val="E6EAF2"/>
                </a:solidFill>
                <a:latin typeface="Calibri"/>
              </a:rPr>
              <a:t>Tier 1</a:t>
            </a:r>
            <a:r>
              <a:rPr sz="1000" b="0">
                <a:solidFill>
                  <a:srgbClr val="E6EAF2"/>
                </a:solidFill>
                <a:latin typeface="Calibri"/>
              </a:rPr>
              <a:t> (XGBoost, 3–5 ms p99): scores 100% of tx, </a:t>
            </a:r>
            <a:r>
              <a:rPr sz="1000" b="1">
                <a:solidFill>
                  <a:srgbClr val="E6EAF2"/>
                </a:solidFill>
                <a:latin typeface="Calibri"/>
              </a:rPr>
              <a:t>no SLA change</a:t>
            </a:r>
            <a:r>
              <a:rPr sz="1000" b="0">
                <a:solidFill>
                  <a:srgbClr val="E6EAF2"/>
                </a:solidFill>
                <a:latin typeface="Calibri"/>
              </a:rPr>
              <a:t>.</a:t>
            </a:r>
          </a:p>
          <a:p>
            <a:pPr algn="l">
              <a:lnSpc>
                <a:spcPct val="112000"/>
              </a:lnSpc>
            </a:pPr>
            <a:r>
              <a:rPr sz="1000" b="1">
                <a:solidFill>
                  <a:srgbClr val="F5B72E"/>
                </a:solidFill>
                <a:latin typeface="Calibri"/>
              </a:rPr>
              <a:t>■  </a:t>
            </a:r>
            <a:r>
              <a:rPr sz="1000" b="1">
                <a:solidFill>
                  <a:srgbClr val="E6EAF2"/>
                </a:solidFill>
                <a:latin typeface="Calibri"/>
              </a:rPr>
              <a:t>Tier 2</a:t>
            </a:r>
            <a:r>
              <a:rPr sz="1000" b="0">
                <a:solidFill>
                  <a:srgbClr val="E6EAF2"/>
                </a:solidFill>
                <a:latin typeface="Calibri"/>
              </a:rPr>
              <a:t> (QSVC, 50–200 ms async): re-scores </a:t>
            </a:r>
            <a:r>
              <a:rPr sz="1000" b="1">
                <a:solidFill>
                  <a:srgbClr val="E6EAF2"/>
                </a:solidFill>
                <a:latin typeface="Calibri"/>
              </a:rPr>
              <a:t>top 1%</a:t>
            </a:r>
            <a:r>
              <a:rPr sz="1000" b="0">
                <a:solidFill>
                  <a:srgbClr val="E6EAF2"/>
                </a:solidFill>
                <a:latin typeface="Calibri"/>
              </a:rPr>
              <a:t> flagged by Tier 1.</a:t>
            </a:r>
          </a:p>
          <a:p>
            <a:pPr algn="l">
              <a:lnSpc>
                <a:spcPct val="112000"/>
              </a:lnSpc>
            </a:pPr>
            <a:r>
              <a:rPr sz="1000" b="1">
                <a:solidFill>
                  <a:srgbClr val="F5B72E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Outputs route to: approve / step-up auth (OTP, biometric) / analyst queue.</a:t>
            </a:r>
          </a:p>
          <a:p>
            <a:pPr algn="l">
              <a:lnSpc>
                <a:spcPct val="112000"/>
              </a:lnSpc>
            </a:pPr>
            <a:r>
              <a:rPr sz="1000" b="1">
                <a:solidFill>
                  <a:srgbClr val="F5B72E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Phase 2: </a:t>
            </a:r>
            <a:r>
              <a:rPr sz="1000" b="1">
                <a:solidFill>
                  <a:srgbClr val="E6EAF2"/>
                </a:solidFill>
                <a:latin typeface="Calibri"/>
              </a:rPr>
              <a:t>shadow mode</a:t>
            </a:r>
            <a:r>
              <a:rPr sz="1000" b="0">
                <a:solidFill>
                  <a:srgbClr val="E6EAF2"/>
                </a:solidFill>
                <a:latin typeface="Calibri"/>
              </a:rPr>
              <a:t> (no customer impact). Phase 3: live re-scoring.</a:t>
            </a:r>
          </a:p>
          <a:p>
            <a:pPr algn="l">
              <a:lnSpc>
                <a:spcPct val="112000"/>
              </a:lnSpc>
            </a:pPr>
            <a:r>
              <a:rPr sz="1000" b="1">
                <a:solidFill>
                  <a:srgbClr val="F5B72E"/>
                </a:solidFill>
                <a:latin typeface="Calibri"/>
              </a:rPr>
              <a:t>■  </a:t>
            </a:r>
            <a:r>
              <a:rPr sz="1000" b="1">
                <a:solidFill>
                  <a:srgbClr val="E6EAF2"/>
                </a:solidFill>
                <a:latin typeface="Calibri"/>
              </a:rPr>
              <a:t>Loss-avoidance target: Rs 8–10 Cr / yr incremental</a:t>
            </a:r>
            <a:r>
              <a:rPr sz="1000" b="0">
                <a:solidFill>
                  <a:srgbClr val="E6EAF2"/>
                </a:solidFill>
                <a:latin typeface="Calibri"/>
              </a:rPr>
              <a:t> at the same FPR.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COMPLIANCE • REGULATORY MANDATE • SAME QUANTUM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96012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Use case #2 — Anti-Money Laundering (AML)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9525"/>
          </a:xfrm>
          <a:prstGeom prst="rect">
            <a:avLst/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dfc_ba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365760"/>
            <a:ext cx="132588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AA5BC"/>
                </a:solidFill>
                <a:latin typeface="Calibri"/>
              </a:rPr>
              <a:t>HDFC Bank • Quantum Computing Strategy •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AA5BC"/>
                </a:solidFill>
                <a:latin typeface="Calibri"/>
              </a:rP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17320"/>
            <a:ext cx="5550408" cy="242316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5550408" cy="54864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36192"/>
            <a:ext cx="518464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ED232A"/>
                </a:solidFill>
                <a:latin typeface="Calibri"/>
              </a:rPr>
              <a:t>1. The problem at HDFC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920240"/>
            <a:ext cx="5184648" cy="18745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232A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HDFC processes </a:t>
            </a:r>
            <a:r>
              <a:rPr sz="1000" b="1">
                <a:solidFill>
                  <a:srgbClr val="E6EAF2"/>
                </a:solidFill>
                <a:latin typeface="Calibri"/>
              </a:rPr>
              <a:t>~100 Cr+ tx / month</a:t>
            </a:r>
            <a:r>
              <a:rPr sz="1000" b="0">
                <a:solidFill>
                  <a:srgbClr val="E6EAF2"/>
                </a:solidFill>
                <a:latin typeface="Calibri"/>
              </a:rPr>
              <a:t> across cards, UPI, NEFT, RTGS, IMPS.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232A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Current rules + ML hybrid generates </a:t>
            </a:r>
            <a:r>
              <a:rPr sz="1000" b="1">
                <a:solidFill>
                  <a:srgbClr val="E6EAF2"/>
                </a:solidFill>
                <a:latin typeface="Calibri"/>
              </a:rPr>
              <a:t>~10,000+ alerts / month</a:t>
            </a:r>
            <a:r>
              <a:rPr sz="1000" b="0">
                <a:solidFill>
                  <a:srgbClr val="E6EAF2"/>
                </a:solidFill>
                <a:latin typeface="Calibri"/>
              </a:rPr>
              <a:t>.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232A"/>
                </a:solidFill>
                <a:latin typeface="Calibri"/>
              </a:rPr>
              <a:t>■  </a:t>
            </a:r>
            <a:r>
              <a:rPr sz="1000" b="1">
                <a:solidFill>
                  <a:srgbClr val="E6EAF2"/>
                </a:solidFill>
                <a:latin typeface="Calibri"/>
              </a:rPr>
              <a:t>True-positive rate ~3–5%</a:t>
            </a:r>
            <a:r>
              <a:rPr sz="1000" b="0">
                <a:solidFill>
                  <a:srgbClr val="E6EAF2"/>
                </a:solidFill>
                <a:latin typeface="Calibri"/>
              </a:rPr>
              <a:t> — 95% false alerts crush FIU analyst capacity.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232A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Misses today: </a:t>
            </a:r>
            <a:r>
              <a:rPr sz="1000" b="1">
                <a:solidFill>
                  <a:srgbClr val="E6EAF2"/>
                </a:solidFill>
                <a:latin typeface="Calibri"/>
              </a:rPr>
              <a:t>structuring (smurfing)</a:t>
            </a:r>
            <a:r>
              <a:rPr sz="1000" b="0">
                <a:solidFill>
                  <a:srgbClr val="E6EAF2"/>
                </a:solidFill>
                <a:latin typeface="Calibri"/>
              </a:rPr>
              <a:t>, multi-hop layering, synthetic-ID mules, trade-based ML.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232A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Regulatory: </a:t>
            </a:r>
            <a:r>
              <a:rPr sz="1000" b="1">
                <a:solidFill>
                  <a:srgbClr val="E6EAF2"/>
                </a:solidFill>
                <a:latin typeface="Calibri"/>
              </a:rPr>
              <a:t>PMLA, FATF, RBI Master Direction on KYC/AML, FIU-IND</a:t>
            </a:r>
            <a:r>
              <a:rPr sz="1000" b="0">
                <a:solidFill>
                  <a:srgbClr val="E6EAF2"/>
                </a:solidFill>
                <a:latin typeface="Calibri"/>
              </a:rPr>
              <a:t>.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232A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Penalties for missed SARs: </a:t>
            </a:r>
            <a:r>
              <a:rPr sz="1000" b="1">
                <a:solidFill>
                  <a:srgbClr val="E6EAF2"/>
                </a:solidFill>
                <a:latin typeface="Calibri"/>
              </a:rPr>
              <a:t>Rs 10 lakh – 50 Cr</a:t>
            </a:r>
            <a:r>
              <a:rPr sz="1000" b="0">
                <a:solidFill>
                  <a:srgbClr val="E6EAF2"/>
                </a:solidFill>
                <a:latin typeface="Calibri"/>
              </a:rPr>
              <a:t> per enforcement 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417320"/>
            <a:ext cx="5550408" cy="242316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417320"/>
            <a:ext cx="5550408" cy="5486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536192"/>
            <a:ext cx="518464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EC4B6"/>
                </a:solidFill>
                <a:latin typeface="Calibri"/>
              </a:rPr>
              <a:t>2. Quantum approach — the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920240"/>
            <a:ext cx="5184648" cy="18745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2EC4B6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Build </a:t>
            </a:r>
            <a:r>
              <a:rPr sz="1000" b="1">
                <a:solidFill>
                  <a:srgbClr val="E6EAF2"/>
                </a:solidFill>
                <a:latin typeface="Calibri"/>
              </a:rPr>
              <a:t>transaction graph</a:t>
            </a:r>
            <a:r>
              <a:rPr sz="1000" b="0">
                <a:solidFill>
                  <a:srgbClr val="E6EAF2"/>
                </a:solidFill>
                <a:latin typeface="Calibri"/>
              </a:rPr>
              <a:t>: nodes = accounts; edges = (amount, time, channel, geo).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2EC4B6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Graph embeddings: </a:t>
            </a:r>
            <a:r>
              <a:rPr sz="1000" b="1">
                <a:solidFill>
                  <a:srgbClr val="E6EAF2"/>
                </a:solidFill>
                <a:latin typeface="Calibri"/>
              </a:rPr>
              <a:t>random walks + Weisfeiler-Lehman</a:t>
            </a:r>
            <a:r>
              <a:rPr sz="1000" b="0">
                <a:solidFill>
                  <a:srgbClr val="E6EAF2"/>
                </a:solidFill>
                <a:latin typeface="Calibri"/>
              </a:rPr>
              <a:t> node vectors.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2EC4B6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Encode embeddings with </a:t>
            </a:r>
            <a:r>
              <a:rPr sz="1000" b="1">
                <a:solidFill>
                  <a:srgbClr val="E6EAF2"/>
                </a:solidFill>
                <a:latin typeface="Calibri"/>
              </a:rPr>
              <a:t>ZZFeatureMap</a:t>
            </a:r>
            <a:r>
              <a:rPr sz="1000" b="0">
                <a:solidFill>
                  <a:srgbClr val="E6EAF2"/>
                </a:solidFill>
                <a:latin typeface="Calibri"/>
              </a:rPr>
              <a:t> → quantum kernel on sub-graph similarity.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2EC4B6"/>
                </a:solidFill>
                <a:latin typeface="Calibri"/>
              </a:rPr>
              <a:t>■  </a:t>
            </a:r>
            <a:r>
              <a:rPr sz="1000" b="1">
                <a:solidFill>
                  <a:srgbClr val="E6EAF2"/>
                </a:solidFill>
                <a:latin typeface="Calibri"/>
              </a:rPr>
              <a:t>QAOA / quantum walks</a:t>
            </a:r>
            <a:r>
              <a:rPr sz="1000" b="0">
                <a:solidFill>
                  <a:srgbClr val="E6EAF2"/>
                </a:solidFill>
                <a:latin typeface="Calibri"/>
              </a:rPr>
              <a:t> for community detection (laundering rings).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2EC4B6"/>
                </a:solidFill>
                <a:latin typeface="Calibri"/>
              </a:rPr>
              <a:t>■  </a:t>
            </a:r>
            <a:r>
              <a:rPr sz="1000" b="1">
                <a:solidFill>
                  <a:srgbClr val="E6EAF2"/>
                </a:solidFill>
                <a:latin typeface="Calibri"/>
              </a:rPr>
              <a:t>VQC</a:t>
            </a:r>
            <a:r>
              <a:rPr sz="1000" b="0">
                <a:solidFill>
                  <a:srgbClr val="E6EAF2"/>
                </a:solidFill>
                <a:latin typeface="Calibri"/>
              </a:rPr>
              <a:t> classifies typology: smurfing vs layering vs trade-based vs mule.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2EC4B6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Hybrid: classical rules + ML triage → quantum re-scores top-suspicious sub-graphs.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005072"/>
            <a:ext cx="5550408" cy="242316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005072"/>
            <a:ext cx="5550408" cy="54864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23944"/>
            <a:ext cx="518464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  <a:latin typeface="Calibri"/>
              </a:rPr>
              <a:t>3. Where quantum wins (the targets)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40080" y="4462272"/>
          <a:ext cx="512064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371600"/>
                <a:gridCol w="1371600"/>
              </a:tblGrid>
              <a:tr h="23774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5B72E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5B72E"/>
                          </a:solidFill>
                          <a:latin typeface="Calibri"/>
                        </a:rPr>
                        <a:t>Today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5B72E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6EAF2"/>
                          </a:solidFill>
                          <a:latin typeface="Calibri"/>
                        </a:rPr>
                        <a:t>True-positive rate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6EAF2"/>
                          </a:solidFill>
                          <a:latin typeface="Calibri"/>
                        </a:rPr>
                        <a:t>3–5%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ECC71"/>
                          </a:solidFill>
                          <a:latin typeface="Calibri"/>
                        </a:rPr>
                        <a:t>12–18%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6EAF2"/>
                          </a:solidFill>
                          <a:latin typeface="Calibri"/>
                        </a:rPr>
                        <a:t>False-alert volume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6EAF2"/>
                          </a:solidFill>
                          <a:latin typeface="Calibri"/>
                        </a:rPr>
                        <a:t>100% (base)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ECC71"/>
                          </a:solidFill>
                          <a:latin typeface="Calibri"/>
                        </a:rPr>
                        <a:t>−40%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6EAF2"/>
                          </a:solidFill>
                          <a:latin typeface="Calibri"/>
                        </a:rPr>
                        <a:t>Analyst review time / case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6EAF2"/>
                          </a:solidFill>
                          <a:latin typeface="Calibri"/>
                        </a:rPr>
                        <a:t>100% (base)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ECC71"/>
                          </a:solidFill>
                          <a:latin typeface="Calibri"/>
                        </a:rPr>
                        <a:t>−50%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6EAF2"/>
                          </a:solidFill>
                          <a:latin typeface="Calibri"/>
                        </a:rPr>
                        <a:t>New typologies caught / yr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6EAF2"/>
                          </a:solidFill>
                          <a:latin typeface="Calibri"/>
                        </a:rPr>
                        <a:t>0–1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ECC71"/>
                          </a:solidFill>
                          <a:latin typeface="Calibri"/>
                        </a:rPr>
                        <a:t>+3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40080" y="5760720"/>
            <a:ext cx="5184648" cy="5943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2ECC71"/>
                </a:solidFill>
                <a:latin typeface="Calibri"/>
              </a:rPr>
              <a:t>■  </a:t>
            </a:r>
            <a:r>
              <a:rPr sz="900" b="1">
                <a:solidFill>
                  <a:srgbClr val="E6EAF2"/>
                </a:solidFill>
                <a:latin typeface="Calibri"/>
              </a:rPr>
              <a:t>Sub-graph isomorphism</a:t>
            </a:r>
            <a:r>
              <a:rPr sz="900" b="0">
                <a:solidFill>
                  <a:srgbClr val="E6EAF2"/>
                </a:solidFill>
                <a:latin typeface="Calibri"/>
              </a:rPr>
              <a:t> is structurally hard for classical kernels — quantum walks have known speed-ups.</a:t>
            </a:r>
          </a:p>
          <a:p>
            <a:pPr algn="l">
              <a:lnSpc>
                <a:spcPct val="110000"/>
              </a:lnSpc>
            </a:pPr>
            <a:r>
              <a:rPr sz="900" b="1">
                <a:solidFill>
                  <a:srgbClr val="2ECC71"/>
                </a:solidFill>
                <a:latin typeface="Calibri"/>
              </a:rPr>
              <a:t>■  </a:t>
            </a:r>
            <a:r>
              <a:rPr sz="900" b="0">
                <a:solidFill>
                  <a:srgbClr val="E6EAF2"/>
                </a:solidFill>
                <a:latin typeface="Calibri"/>
              </a:rPr>
              <a:t>Catches </a:t>
            </a:r>
            <a:r>
              <a:rPr sz="900" b="1">
                <a:solidFill>
                  <a:srgbClr val="E6EAF2"/>
                </a:solidFill>
                <a:latin typeface="Calibri"/>
              </a:rPr>
              <a:t>3–5 account chains</a:t>
            </a:r>
            <a:r>
              <a:rPr sz="900" b="0">
                <a:solidFill>
                  <a:srgbClr val="E6EAF2"/>
                </a:solidFill>
                <a:latin typeface="Calibri"/>
              </a:rPr>
              <a:t> across 2–3 jurisdictions; synthetic-ID mule clusters.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005072"/>
            <a:ext cx="5550408" cy="242316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4005072"/>
            <a:ext cx="5550408" cy="54864"/>
          </a:xfrm>
          <a:prstGeom prst="rect">
            <a:avLst/>
          </a:prstGeom>
          <a:solidFill>
            <a:srgbClr val="F5B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4123944"/>
            <a:ext cx="518464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5B72E"/>
                </a:solidFill>
                <a:latin typeface="Calibri"/>
              </a:rPr>
              <a:t>4. Operating model in production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507992"/>
            <a:ext cx="5184648" cy="18745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F5B72E"/>
                </a:solidFill>
                <a:latin typeface="Calibri"/>
              </a:rPr>
              <a:t>■  </a:t>
            </a:r>
            <a:r>
              <a:rPr sz="1000" b="1">
                <a:solidFill>
                  <a:srgbClr val="E6EAF2"/>
                </a:solidFill>
                <a:latin typeface="Calibri"/>
              </a:rPr>
              <a:t>Batch (overnight)</a:t>
            </a:r>
            <a:r>
              <a:rPr sz="1000" b="0">
                <a:solidFill>
                  <a:srgbClr val="E6EAF2"/>
                </a:solidFill>
                <a:latin typeface="Calibri"/>
              </a:rPr>
              <a:t> quantum re-score on full transaction network for SAR pipeline.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F5B72E"/>
                </a:solidFill>
                <a:latin typeface="Calibri"/>
              </a:rPr>
              <a:t>■  </a:t>
            </a:r>
            <a:r>
              <a:rPr sz="1000" b="1">
                <a:solidFill>
                  <a:srgbClr val="E6EAF2"/>
                </a:solidFill>
                <a:latin typeface="Calibri"/>
              </a:rPr>
              <a:t>Intraday</a:t>
            </a:r>
            <a:r>
              <a:rPr sz="1000" b="0">
                <a:solidFill>
                  <a:srgbClr val="E6EAF2"/>
                </a:solidFill>
                <a:latin typeface="Calibri"/>
              </a:rPr>
              <a:t> re-score on high-risk segments (HRA, PEP, NRI corridors).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F5B72E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Outputs feed </a:t>
            </a:r>
            <a:r>
              <a:rPr sz="1000" b="1">
                <a:solidFill>
                  <a:srgbClr val="E6EAF2"/>
                </a:solidFill>
                <a:latin typeface="Calibri"/>
              </a:rPr>
              <a:t>existing case-management UI</a:t>
            </a:r>
            <a:r>
              <a:rPr sz="1000" b="0">
                <a:solidFill>
                  <a:srgbClr val="E6EAF2"/>
                </a:solidFill>
                <a:latin typeface="Calibri"/>
              </a:rPr>
              <a:t> — no parallel system.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F5B72E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Full </a:t>
            </a:r>
            <a:r>
              <a:rPr sz="1000" b="1">
                <a:solidFill>
                  <a:srgbClr val="E6EAF2"/>
                </a:solidFill>
                <a:latin typeface="Calibri"/>
              </a:rPr>
              <a:t>audit trail</a:t>
            </a:r>
            <a:r>
              <a:rPr sz="1000" b="0">
                <a:solidFill>
                  <a:srgbClr val="E6EAF2"/>
                </a:solidFill>
                <a:latin typeface="Calibri"/>
              </a:rPr>
              <a:t>: kernel weights + sub-graph IDs + typology label (regulator-friendly).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F5B72E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Phase 2 pilot: cards + UPI rails. Phase 3: corporate banking + trade finance.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F5B72E"/>
                </a:solidFill>
                <a:latin typeface="Calibri"/>
              </a:rPr>
              <a:t>■  </a:t>
            </a:r>
            <a:r>
              <a:rPr sz="1000" b="1">
                <a:solidFill>
                  <a:srgbClr val="E6EAF2"/>
                </a:solidFill>
                <a:latin typeface="Calibri"/>
              </a:rPr>
              <a:t>Compliance cost reduction target: Rs 10–15 Cr / yr.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