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502920"/>
            <a:ext cx="237744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82296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HDFC BANK • BOARD AND EXECUTIVE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Quantum-Safe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Communications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E6EAF2"/>
                </a:solidFill>
                <a:latin typeface="Calibri"/>
              </a:rPr>
              <a:t>PQC + QKD architecture for HDFC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E6EAF2"/>
                </a:solidFill>
                <a:latin typeface="Calibri"/>
              </a:rPr>
              <a:t>HQ Mumbai • Primary DC Mumbai • Far DR Delhi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846320"/>
            <a:ext cx="109728" cy="32004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8006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6EAF2"/>
                </a:solidFill>
                <a:latin typeface="Calibri"/>
              </a:rPr>
              <a:t>Author: SVP — Kranthi Molleti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3550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9AA5BC"/>
                </a:solidFill>
                <a:latin typeface="Calibri"/>
              </a:rPr>
              <a:t>Confidential — internal circulation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WHY WE ARE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Quantum-safe communications — the ask in one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Quantum-Safe Communications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70332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81912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THE THREAT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3246120" cy="1874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Adversaries can record encrypted traffic today and decrypt it in 2030–35 once cryptographically-relevant quantum computers (CRQC) arrive — “harvest now, decrypt later”. Our HQ–DC, DC–DR and partner-bank links all use RSA/ECDH today.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9100" y="141732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29100" y="1417320"/>
            <a:ext cx="370332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700" y="1581912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THE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0" y="2057400"/>
            <a:ext cx="3246120" cy="1874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Two-layer defence — </a:t>
            </a:r>
            <a:r>
              <a:rPr sz="1200" b="1" i="0">
                <a:solidFill>
                  <a:srgbClr val="E6EAF2"/>
                </a:solidFill>
                <a:latin typeface="Calibri"/>
              </a:rPr>
              <a:t>PQC (Kyber + Dilithium)</a:t>
            </a:r>
            <a:r>
              <a:rPr sz="1200" b="0" i="0">
                <a:solidFill>
                  <a:srgbClr val="E6EAF2"/>
                </a:solidFill>
                <a:latin typeface="Calibri"/>
              </a:rPr>
              <a:t> as the workhorse on every link including branches and customer apps; </a:t>
            </a:r>
            <a:r>
              <a:rPr sz="1200" b="1" i="0">
                <a:solidFill>
                  <a:srgbClr val="E6EAF2"/>
                </a:solidFill>
                <a:latin typeface="Calibri"/>
              </a:rPr>
              <a:t>QKD as a selective overlay</a:t>
            </a:r>
            <a:r>
              <a:rPr sz="1200" b="0" i="0">
                <a:solidFill>
                  <a:srgbClr val="E6EAF2"/>
                </a:solidFill>
                <a:latin typeface="Calibri"/>
              </a:rPr>
              <a:t> on the Mumbai HQ–DC metro fibre. AES-256 inside the HSM is already largely quantum-safe.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417320"/>
            <a:ext cx="3703320" cy="26060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417320"/>
            <a:ext cx="3703320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81912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THE 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57400"/>
            <a:ext cx="3246120" cy="1874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E6EAF2"/>
                </a:solidFill>
                <a:latin typeface="Calibri"/>
              </a:rPr>
              <a:t>Rs 50–70 Cr over FY26–FY28: HSM refresh + PQC migration + QKD pilot on the HQ–DC metro link + R&amp;D bet on satellite-QKD with ISRO for the Delhi DR — puts HDFC ahead of RBI and on the National Quantum Mission map.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51960"/>
            <a:ext cx="11247120" cy="20116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70832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WHAT GOOD LOOKS LIKE BY FY28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00600"/>
            <a:ext cx="2697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394960"/>
            <a:ext cx="2697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of internal mTLS,</a:t>
            </a:r>
          </a:p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branch IPsec, and customer-facing</a:t>
            </a:r>
          </a:p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TLS migrated to </a:t>
            </a:r>
            <a:r>
              <a:rPr sz="1100" b="1" i="0">
                <a:solidFill>
                  <a:srgbClr val="E6EAF2"/>
                </a:solidFill>
                <a:latin typeface="Calibri"/>
              </a:rPr>
              <a:t>hybrid PQC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800600"/>
            <a:ext cx="2697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1 Gbps+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394960"/>
            <a:ext cx="2697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EAF2"/>
                </a:solidFill>
                <a:latin typeface="Calibri"/>
              </a:rPr>
              <a:t>QKD-secured DWDM channel</a:t>
            </a:r>
          </a:p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between HQ Mumbai and</a:t>
            </a:r>
          </a:p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Primary DC Mumbai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800600"/>
            <a:ext cx="2697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AES-256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5394960"/>
            <a:ext cx="2697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rotated </a:t>
            </a:r>
            <a:r>
              <a:rPr sz="1100" b="1" i="0">
                <a:solidFill>
                  <a:srgbClr val="E6EAF2"/>
                </a:solidFill>
                <a:latin typeface="Calibri"/>
              </a:rPr>
              <a:t>every ~1 sec</a:t>
            </a:r>
            <a:r>
              <a:rPr sz="1100" b="0" i="0">
                <a:solidFill>
                  <a:srgbClr val="E6EAF2"/>
                </a:solidFill>
                <a:latin typeface="Calibri"/>
              </a:rPr>
              <a:t> on the</a:t>
            </a:r>
          </a:p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HQ–DC link via QKD-derived</a:t>
            </a:r>
          </a:p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symmetric keys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800600"/>
            <a:ext cx="2697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Rs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394960"/>
            <a:ext cx="2697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regulatory penalty exposure on</a:t>
            </a:r>
          </a:p>
          <a:p>
            <a:pPr algn="l"/>
            <a:r>
              <a:rPr sz="1100" b="1" i="0">
                <a:solidFill>
                  <a:srgbClr val="E6EAF2"/>
                </a:solidFill>
                <a:latin typeface="Calibri"/>
              </a:rPr>
              <a:t>HNDL</a:t>
            </a:r>
            <a:r>
              <a:rPr sz="1100" b="0" i="0">
                <a:solidFill>
                  <a:srgbClr val="E6EAF2"/>
                </a:solidFill>
                <a:latin typeface="Calibri"/>
              </a:rPr>
              <a:t> — RBI / SEBI /</a:t>
            </a:r>
          </a:p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FIU expectations met early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WHAT WE ARE PROTECTING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HDFC topology — and the distance reality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Quantum-Safe Communications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63040"/>
            <a:ext cx="6949440" cy="47548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6492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FIBRE TOPOLOGY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103120"/>
            <a:ext cx="2377440" cy="86868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2103120"/>
            <a:ext cx="237744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19456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  <a:latin typeface="Calibri"/>
              </a:rPr>
              <a:t>HQ MUMBAI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68880"/>
            <a:ext cx="2103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Lower Parel / BKC</a:t>
            </a:r>
          </a:p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Treasury, FX, MIS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365760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3657600"/>
            <a:ext cx="237744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74904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D232A"/>
                </a:solidFill>
                <a:latin typeface="Calibri"/>
              </a:rPr>
              <a:t>PRIMARY DC MUMBAI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23360"/>
            <a:ext cx="21031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Andheri / Navi Mumbai</a:t>
            </a:r>
          </a:p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Core banking, card switch,</a:t>
            </a:r>
          </a:p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UPI / NEFT / RTGS, fraud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657600"/>
            <a:ext cx="2377440" cy="100584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3657600"/>
            <a:ext cx="2377440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749040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5B72E"/>
                </a:solidFill>
                <a:latin typeface="Calibri"/>
              </a:rPr>
              <a:t>FAR DR DELHI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023360"/>
            <a:ext cx="21031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Different seismic zone</a:t>
            </a:r>
          </a:p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Async replica</a:t>
            </a:r>
          </a:p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RPO few minutes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94560" y="2971800"/>
            <a:ext cx="0" cy="685800"/>
          </a:xfrm>
          <a:prstGeom prst="line">
            <a:avLst/>
          </a:prstGeom>
          <a:ln w="25400">
            <a:solidFill>
              <a:srgbClr val="2EC4B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31720" y="306324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2EC4B6"/>
                </a:solidFill>
                <a:latin typeface="Calibri"/>
              </a:rPr>
              <a:t>5–30 km</a:t>
            </a:r>
          </a:p>
          <a:p>
            <a:pPr algn="l"/>
            <a:r>
              <a:rPr sz="1000" b="0" i="1">
                <a:solidFill>
                  <a:srgbClr val="2EC4B6"/>
                </a:solidFill>
                <a:latin typeface="Calibri"/>
              </a:rPr>
              <a:t>intra-Mumbai dark fibre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83280" y="4160520"/>
            <a:ext cx="1188720" cy="0"/>
          </a:xfrm>
          <a:prstGeom prst="line">
            <a:avLst/>
          </a:prstGeom>
          <a:ln w="25400">
            <a:solidFill>
              <a:srgbClr val="F5B72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20440" y="3822192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~1,150 km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160520"/>
            <a:ext cx="15087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E6EAF2"/>
                </a:solidFill>
                <a:latin typeface="Calibri"/>
              </a:rPr>
              <a:t>carrier DWDM /</a:t>
            </a:r>
          </a:p>
          <a:p>
            <a:pPr algn="l"/>
            <a:r>
              <a:rPr sz="900" b="0" i="1">
                <a:solidFill>
                  <a:srgbClr val="E6EAF2"/>
                </a:solidFill>
                <a:latin typeface="Calibri"/>
              </a:rPr>
              <a:t>MPLS, multi-hop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5212079"/>
            <a:ext cx="5943600" cy="77724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5840" y="5212079"/>
            <a:ext cx="5943600" cy="45720"/>
          </a:xfrm>
          <a:prstGeom prst="rect">
            <a:avLst/>
          </a:prstGeom>
          <a:solidFill>
            <a:srgbClr val="9AA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5303519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9AA5BC"/>
                </a:solidFill>
                <a:latin typeface="Calibri"/>
              </a:rPr>
              <a:t>8,000+ BRANCHES • 18,000+ ATMS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577839"/>
            <a:ext cx="5760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MPLS / SD-WAN / 4G-5G failover — multi-hop carrier IP, no dark fibre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194560" y="4663440"/>
            <a:ext cx="1554480" cy="548639"/>
          </a:xfrm>
          <a:prstGeom prst="line">
            <a:avLst/>
          </a:prstGeom>
          <a:ln w="1905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680960" y="1463040"/>
            <a:ext cx="4206240" cy="47548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9560" y="1600200"/>
            <a:ext cx="3749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DISTANCE REALITY CHECK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45552" y="1965960"/>
            <a:ext cx="3877056" cy="132588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45552" y="1965960"/>
            <a:ext cx="45720" cy="132588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020824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2EC4B6"/>
                </a:solidFill>
                <a:latin typeface="Calibri"/>
              </a:rPr>
              <a:t>HQ Mumbai ↔ DC Mumbai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73568" y="2276856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6EAF2"/>
                </a:solidFill>
                <a:latin typeface="Calibri"/>
              </a:rPr>
              <a:t>5–30 km  —  QKD: yes — sweet spot.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2560320"/>
            <a:ext cx="374904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E6EAF2"/>
                </a:solidFill>
                <a:latin typeface="Calibri"/>
              </a:rPr>
              <a:t>Standard Toshiba MDI-QKD or ID Quantique Clavis comfortably handle this; coexistence with classical DWDM proven up to ~100 km (JPMC 2022).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45552" y="3337560"/>
            <a:ext cx="3877056" cy="132588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45552" y="3337560"/>
            <a:ext cx="45720" cy="132588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73568" y="3392424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DC Mumbai ↔ DR Delhi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3648456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6EAF2"/>
                </a:solidFill>
                <a:latin typeface="Calibri"/>
              </a:rPr>
              <a:t>~1,150 km  —  QKD: no commercial path.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3931920"/>
            <a:ext cx="374904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E6EAF2"/>
                </a:solidFill>
                <a:latin typeface="Calibri"/>
              </a:rPr>
              <a:t>QKD is exponentially loss-limited (~0.2 dB/km). Practical reach ~120 km. Need trusted-node relays (China Beijing–Shanghai) or satellite (Micius / EAGLE-1) — not available in India yet.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45552" y="4709160"/>
            <a:ext cx="3877056" cy="132588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45552" y="4709160"/>
            <a:ext cx="45720" cy="1325880"/>
          </a:xfrm>
          <a:prstGeom prst="rect">
            <a:avLst/>
          </a:prstGeom>
          <a:solidFill>
            <a:srgbClr val="9AA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4764024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9AA5BC"/>
                </a:solidFill>
                <a:latin typeface="Calibri"/>
              </a:rPr>
              <a:t>Branches ↔ DC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73568" y="5020056"/>
            <a:ext cx="37490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6EAF2"/>
                </a:solidFill>
                <a:latin typeface="Calibri"/>
              </a:rPr>
              <a:t>10–2,000 km  —  QKD: physically infeasible.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5303520"/>
            <a:ext cx="374904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E6EAF2"/>
                </a:solidFill>
                <a:latin typeface="Calibri"/>
              </a:rPr>
              <a:t>Multi-hop carrier IP/MPLS, shared paths, no dark fibre. PQC over SD-WAN is the only viable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WHY THIS IS URGENT, NOT THEORETICAL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Harvest now, decrypt later — the urgent threat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Quantum-Safe Communications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10881360" cy="20116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THE 10-YEAR THREAT TIMELINE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606040"/>
            <a:ext cx="10149840" cy="36576"/>
          </a:xfrm>
          <a:prstGeom prst="rect">
            <a:avLst/>
          </a:prstGeom>
          <a:solidFill>
            <a:srgbClr val="9AA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05990" y="251460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057400"/>
            <a:ext cx="23545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ED232A"/>
                </a:solidFill>
                <a:latin typeface="Calibri"/>
              </a:rPr>
              <a:t>2024–26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88920"/>
            <a:ext cx="23545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Adversaries silently record encrypted traffic</a:t>
            </a:r>
          </a:p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from carrier fibre, optical amplifier huts,</a:t>
            </a:r>
          </a:p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or compromised leased 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43450" y="251460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4740" y="2057400"/>
            <a:ext cx="23545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F5B72E"/>
                </a:solidFill>
                <a:latin typeface="Calibri"/>
              </a:rPr>
              <a:t>2027–29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4740" y="2788920"/>
            <a:ext cx="23545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NIST PQC standards (Kyber, Dilithium) become</a:t>
            </a:r>
          </a:p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mandatory in regulated sectors. Banks that</a:t>
            </a:r>
          </a:p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have not migrated face audit findings.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80910" y="251460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057400"/>
            <a:ext cx="23545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  <a:latin typeface="Calibri"/>
              </a:rPr>
              <a:t>2030–32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788920"/>
            <a:ext cx="23545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First </a:t>
            </a:r>
            <a:r>
              <a:rPr sz="900" b="1" i="0">
                <a:solidFill>
                  <a:srgbClr val="E6EAF2"/>
                </a:solidFill>
                <a:latin typeface="Calibri"/>
              </a:rPr>
              <a:t>CRQCs</a:t>
            </a:r>
            <a:r>
              <a:rPr sz="900" b="0" i="0">
                <a:solidFill>
                  <a:srgbClr val="E6EAF2"/>
                </a:solidFill>
                <a:latin typeface="Calibri"/>
              </a:rPr>
              <a:t> with 1–3 M physical qubits.</a:t>
            </a:r>
          </a:p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Shor's algorithm runs against captured</a:t>
            </a:r>
          </a:p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RSA-2048 / ECDH-256 handshakes.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18370" y="251460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09660" y="2057400"/>
            <a:ext cx="23545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ED232A"/>
                </a:solidFill>
                <a:latin typeface="Calibri"/>
              </a:rPr>
              <a:t>2033–35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9660" y="2788920"/>
            <a:ext cx="235458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All </a:t>
            </a:r>
            <a:r>
              <a:rPr sz="900" b="1" i="0">
                <a:solidFill>
                  <a:srgbClr val="E6EAF2"/>
                </a:solidFill>
                <a:latin typeface="Calibri"/>
              </a:rPr>
              <a:t>harvested 2024–32 traffic is decrypted</a:t>
            </a:r>
            <a:r>
              <a:rPr sz="900" b="0" i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KYC, loan files, treasury positions, source code,</a:t>
            </a:r>
          </a:p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HSM key wraps — all readable.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86200"/>
            <a:ext cx="11247120" cy="23317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23360"/>
            <a:ext cx="10789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WHAT IS ON HDFC'S HQ–DC AND DC–DR FIBRE TODAY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2628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D232A"/>
                </a:solidFill>
                <a:latin typeface="Calibri"/>
              </a:rPr>
              <a:t>Core banking journal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1888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Every CASA, FD, loan tx — PII + balances. 10s of Gbps.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52628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D232A"/>
                </a:solidFill>
                <a:latin typeface="Calibri"/>
              </a:rPr>
              <a:t>Card switch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81888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Every card auth — PAN, ARQC cryptograms. 100k+ tps peak.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52628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D232A"/>
                </a:solidFill>
                <a:latin typeface="Calibri"/>
              </a:rPr>
              <a:t>UPI / NEFT / RTGS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81888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Every retail transfer — VPA, beneficiary, amount.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0352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D232A"/>
                </a:solidFill>
                <a:latin typeface="Calibri"/>
              </a:rPr>
              <a:t>HSM cluster sync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59612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Master keys that derive every PIN, MAC, working key. Tiny but catastrophic.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30352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D232A"/>
                </a:solidFill>
                <a:latin typeface="Calibri"/>
              </a:rPr>
              <a:t>Treasury / FX feeds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559612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Live rates, derivatives positions, trade tickets.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303520"/>
            <a:ext cx="3474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D232A"/>
                </a:solidFill>
                <a:latin typeface="Calibri"/>
              </a:rPr>
              <a:t>Backups + admin sessions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596128"/>
            <a:ext cx="347472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Full DB images. SSH/RDP root creds.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Two defences — and why we need both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Quantum-Safe Communications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E6EAF2"/>
                </a:solidFill>
                <a:latin typeface="Calibri"/>
              </a:rPr>
              <a:t>PQC handles </a:t>
            </a:r>
            <a:r>
              <a:rPr sz="1200" b="1" i="1">
                <a:solidFill>
                  <a:srgbClr val="E6EAF2"/>
                </a:solidFill>
                <a:latin typeface="Calibri"/>
              </a:rPr>
              <a:t>breadth</a:t>
            </a:r>
            <a:r>
              <a:rPr sz="1200" b="0" i="1">
                <a:solidFill>
                  <a:srgbClr val="E6EAF2"/>
                </a:solidFill>
                <a:latin typeface="Calibri"/>
              </a:rPr>
              <a:t> — every TLS, every IPsec, every branch. QKD handles </a:t>
            </a:r>
            <a:r>
              <a:rPr sz="1200" b="1" i="1">
                <a:solidFill>
                  <a:srgbClr val="E6EAF2"/>
                </a:solidFill>
                <a:latin typeface="Calibri"/>
              </a:rPr>
              <a:t>depth</a:t>
            </a:r>
            <a:r>
              <a:rPr sz="1200" b="0" i="1">
                <a:solidFill>
                  <a:srgbClr val="E6EAF2"/>
                </a:solidFill>
                <a:latin typeface="Calibri"/>
              </a:rPr>
              <a:t> — the 2–4 highest-value pipes inside a metro.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19"/>
            <a:ext cx="5532120" cy="4434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74519"/>
            <a:ext cx="5532120" cy="73152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39111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POST-QUANTUM CRYPTOGRAPHY (PQC)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77439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Math-based defence — software upgrade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4639"/>
            <a:ext cx="4983480" cy="3337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Hard-math problems believed secure against </a:t>
            </a:r>
            <a:r>
              <a:rPr sz="1100" b="1">
                <a:solidFill>
                  <a:srgbClr val="E6EAF2"/>
                </a:solidFill>
                <a:latin typeface="Calibri"/>
              </a:rPr>
              <a:t>classical + quantum</a:t>
            </a:r>
            <a:r>
              <a:rPr sz="1100" b="0">
                <a:solidFill>
                  <a:srgbClr val="E6EAF2"/>
                </a:solidFill>
                <a:latin typeface="Calibri"/>
              </a:rPr>
              <a:t>: lattice (ML-KEM Kyber), hash-based signatures (SLH-DSA SPHINCS+).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Drop-in replacement</a:t>
            </a:r>
            <a:r>
              <a:rPr sz="1100" b="0">
                <a:solidFill>
                  <a:srgbClr val="E6EAF2"/>
                </a:solidFill>
                <a:latin typeface="Calibri"/>
              </a:rPr>
              <a:t> for ECDH/RSA in TLS, IPsec, SSH, JWT, code signing.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Run in </a:t>
            </a:r>
            <a:r>
              <a:rPr sz="1100" b="1">
                <a:solidFill>
                  <a:srgbClr val="E6EAF2"/>
                </a:solidFill>
                <a:latin typeface="Calibri"/>
              </a:rPr>
              <a:t>hybrid mode</a:t>
            </a:r>
            <a:r>
              <a:rPr sz="1100" b="0">
                <a:solidFill>
                  <a:srgbClr val="E6EAF2"/>
                </a:solidFill>
                <a:latin typeface="Calibri"/>
              </a:rPr>
              <a:t> — ECDH + Kyber together — so neither algorithm alone needs to be perfect.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NIST FIPS-203 / 204 / 205</a:t>
            </a:r>
            <a:r>
              <a:rPr sz="1100" b="0">
                <a:solidFill>
                  <a:srgbClr val="E6EAF2"/>
                </a:solidFill>
                <a:latin typeface="Calibri"/>
              </a:rPr>
              <a:t> standardised Aug 2024. Apple iOS 18, Chrome, Cloudflare ship Kyber today.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Cost — </a:t>
            </a:r>
            <a:r>
              <a:rPr sz="1100" b="1">
                <a:solidFill>
                  <a:srgbClr val="E6EAF2"/>
                </a:solidFill>
                <a:latin typeface="Calibri"/>
              </a:rPr>
              <a:t>firmware + library upgrade</a:t>
            </a:r>
            <a:r>
              <a:rPr sz="1100" b="0">
                <a:solidFill>
                  <a:srgbClr val="E6EAF2"/>
                </a:solidFill>
                <a:latin typeface="Calibri"/>
              </a:rPr>
              <a:t>, no new hardware. Same fibre, same boxes.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2EC4B6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Use everywhere:</a:t>
            </a:r>
            <a:r>
              <a:rPr sz="1100" b="0">
                <a:solidFill>
                  <a:srgbClr val="E6EAF2"/>
                </a:solidFill>
                <a:latin typeface="Calibri"/>
              </a:rPr>
              <a:t> branches, customer apps, partner APIs, internal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874519"/>
            <a:ext cx="5532120" cy="44348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874519"/>
            <a:ext cx="5532120" cy="73152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039111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QUANTUM KEY DISTRIBUTION (QKD)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77439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E6EAF2"/>
                </a:solidFill>
                <a:latin typeface="Calibri"/>
              </a:rPr>
              <a:t>Physics-based defence — selective overlay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34639"/>
            <a:ext cx="4983480" cy="3337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Sends single photons — </a:t>
            </a:r>
            <a:r>
              <a:rPr sz="1100" b="1">
                <a:solidFill>
                  <a:srgbClr val="E6EAF2"/>
                </a:solidFill>
                <a:latin typeface="Calibri"/>
              </a:rPr>
              <a:t>measuring disturbs them</a:t>
            </a:r>
            <a:r>
              <a:rPr sz="1100" b="0">
                <a:solidFill>
                  <a:srgbClr val="E6EAF2"/>
                </a:solidFill>
                <a:latin typeface="Calibri"/>
              </a:rPr>
              <a:t> (Heisenberg uncertainty), so any eavesdropper is detected.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Generates a stream of </a:t>
            </a:r>
            <a:r>
              <a:rPr sz="1100" b="1">
                <a:solidFill>
                  <a:srgbClr val="E6EAF2"/>
                </a:solidFill>
                <a:latin typeface="Calibri"/>
              </a:rPr>
              <a:t>fresh AES-256 keys every ~1 sec</a:t>
            </a:r>
            <a:r>
              <a:rPr sz="1100" b="0">
                <a:solidFill>
                  <a:srgbClr val="E6EAF2"/>
                </a:solidFill>
                <a:latin typeface="Calibri"/>
              </a:rPr>
              <a:t> between two endpoints over fibre.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Feeds those keys into existing </a:t>
            </a:r>
            <a:r>
              <a:rPr sz="1100" b="1">
                <a:solidFill>
                  <a:srgbClr val="E6EAF2"/>
                </a:solidFill>
                <a:latin typeface="Calibri"/>
              </a:rPr>
              <a:t>MACsec / IPsec / OTN encryptors</a:t>
            </a:r>
            <a:r>
              <a:rPr sz="1100" b="0">
                <a:solidFill>
                  <a:srgbClr val="E6EAF2"/>
                </a:solidFill>
                <a:latin typeface="Calibri"/>
              </a:rPr>
              <a:t> for AES-256 bulk encryption of 10–400 Gbps.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Information-theoretically secure</a:t>
            </a:r>
            <a:r>
              <a:rPr sz="1100" b="0">
                <a:solidFill>
                  <a:srgbClr val="E6EAF2"/>
                </a:solidFill>
                <a:latin typeface="Calibri"/>
              </a:rPr>
              <a:t> for the key-exchange step — no math, no Shor, no Grover.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0">
                <a:solidFill>
                  <a:srgbClr val="E6EAF2"/>
                </a:solidFill>
                <a:latin typeface="Calibri"/>
              </a:rPr>
              <a:t>Limits: </a:t>
            </a:r>
            <a:r>
              <a:rPr sz="1100" b="1">
                <a:solidFill>
                  <a:srgbClr val="E6EAF2"/>
                </a:solidFill>
                <a:latin typeface="Calibri"/>
              </a:rPr>
              <a:t>dedicated dark fibre or DWDM wavelength</a:t>
            </a:r>
            <a:r>
              <a:rPr sz="1100" b="0">
                <a:solidFill>
                  <a:srgbClr val="E6EAF2"/>
                </a:solidFill>
                <a:latin typeface="Calibri"/>
              </a:rPr>
              <a:t>, ~120 km without trusted-node relays, dedicated hardware (Toshiba / ID Quantique).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ED232A"/>
                </a:solidFill>
                <a:latin typeface="Calibri"/>
              </a:rPr>
              <a:t>■  </a:t>
            </a:r>
            <a:r>
              <a:rPr sz="1100" b="1">
                <a:solidFill>
                  <a:srgbClr val="E6EAF2"/>
                </a:solidFill>
                <a:latin typeface="Calibri"/>
              </a:rPr>
              <a:t>Use selectively:</a:t>
            </a:r>
            <a:r>
              <a:rPr sz="1100" b="0">
                <a:solidFill>
                  <a:srgbClr val="E6EAF2"/>
                </a:solidFill>
                <a:latin typeface="Calibri"/>
              </a:rPr>
              <a:t> HQ–DC and inter-DC fibre inside a metro. </a:t>
            </a:r>
            <a:r>
              <a:rPr sz="1100" b="1">
                <a:solidFill>
                  <a:srgbClr val="E6EAF2"/>
                </a:solidFill>
                <a:latin typeface="Calibri"/>
              </a:rPr>
              <a:t>Not</a:t>
            </a:r>
            <a:r>
              <a:rPr sz="1100" b="0">
                <a:solidFill>
                  <a:srgbClr val="E6EAF2"/>
                </a:solidFill>
                <a:latin typeface="Calibri"/>
              </a:rPr>
              <a:t> for branches, customer apps, or DR &gt; 200 km.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WHAT WE DO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Recommended option per zone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Quantum-Safe Communications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1732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2743200"/>
                <a:gridCol w="2286000"/>
              </a:tblGrid>
              <a:tr h="6057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73152" marR="73152" marT="36576" marB="36576"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Recommended option</a:t>
                      </a:r>
                    </a:p>
                  </a:txBody>
                  <a:tcPr marL="73152" marR="73152" marT="36576" marB="36576"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36576" marB="36576"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5B72E"/>
                          </a:solidFill>
                          <a:latin typeface="Calibri"/>
                        </a:rPr>
                        <a:t>Maturity</a:t>
                      </a:r>
                    </a:p>
                  </a:txBody>
                  <a:tcPr marL="73152" marR="73152" marT="36576" marB="36576">
                    <a:solidFill>
                      <a:srgbClr val="122C5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HQ Mumbai ↔ Primary DC Mumbai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Hybrid PQC + QKD at IPsec/MACsec layer; QKD AES-256 keys rotated every ~1 sec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Highest-value pipe; in metro QKD range; carries core-bank sync, HSM cluster, treasury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Production (HSBC, JPMC)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Primary DC Mumbai ↔ Far DR Delhi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PQC-only (Kyber+ECDH hybrid) over MACsec/IPsec; AES-256 rotated every 60 sec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1,150 km is beyond direct QKD; PQC + frequent rotation is correct answer for HNDL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NIST FIPS-203 (Aug 2024)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HQ ↔ Treasury / FX (intra-building)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MACsec + PQC firmware on switches; HSM-backed identity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Inside trust boundary; main concern is cert lifecycle and crypto-agility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Standard refresh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DC ↔ NPCI / RBI / SWIFT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PQC over carrier links; HSM-backed mutual TLS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Regulatory rails; can't self-deploy QKD; SWIFT CSP v2025/26 adds PQC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Vendor-led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Branches ↔ Regional Hub ↔ DC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PQC over SD-WAN/MPLS; TLS handshake = ECDH + Kyber hybrid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8,000+ sites; QKD physically infeasible; piggy-back on SD-WAN refresh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FIPS-203 standard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ATMs / POS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PQC libraries on next ATM refresh; HSM-backed PIN encryption stays AES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Slow refresh (~5–7 yrs); ride hardware refresh cycle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Vendor roadmap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Mobile / net banking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Hybrid TLS — X25519 + ML-KEM-768; HSM-backed signing keys → ML-DSA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Customer-facing; iOS 18, Chrome already negotiate Kyber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6EAF2"/>
                          </a:solidFill>
                          <a:latin typeface="Calibri"/>
                        </a:rPr>
                        <a:t>Production at FAANG scale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HSM DEEP DIVE (1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How keys are stored in an HSM — the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Quantum-Safe Communications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685800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6400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KEY HIERARCHY — NEVER LEAVES THE HSM IN CLEAR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057400"/>
            <a:ext cx="3200400" cy="77724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2057400"/>
            <a:ext cx="320040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2148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D232A"/>
                </a:solidFill>
                <a:latin typeface="Calibri"/>
              </a:rPr>
              <a:t>LMK — Local Master Key (AES-256)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423160"/>
            <a:ext cx="29260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E6EAF2"/>
                </a:solidFill>
                <a:latin typeface="Calibri"/>
              </a:rPr>
              <a:t>Generated in ceremony, split via Shamir,</a:t>
            </a:r>
          </a:p>
          <a:p>
            <a:pPr algn="l"/>
            <a:r>
              <a:rPr sz="900" b="0" i="1">
                <a:solidFill>
                  <a:srgbClr val="E6EAF2"/>
                </a:solidFill>
                <a:latin typeface="Calibri"/>
              </a:rPr>
              <a:t>never appears in clear outside HSM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0040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200400"/>
            <a:ext cx="196596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273552"/>
            <a:ext cx="1691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EC4B6"/>
                </a:solidFill>
                <a:latin typeface="Calibri"/>
              </a:rPr>
              <a:t>ZMK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9584"/>
            <a:ext cx="1691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E6EAF2"/>
                </a:solidFill>
                <a:latin typeface="Calibri"/>
              </a:rPr>
              <a:t>Zone Master Key (per partner:</a:t>
            </a:r>
          </a:p>
          <a:p>
            <a:pPr algn="l"/>
            <a:r>
              <a:rPr sz="850" b="0" i="0">
                <a:solidFill>
                  <a:srgbClr val="E6EAF2"/>
                </a:solidFill>
                <a:latin typeface="Calibri"/>
              </a:rPr>
              <a:t>Visa, MC, NPCI, RBI)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668780.0" y="2834640"/>
            <a:ext cx="2217420.0" cy="365760"/>
          </a:xfrm>
          <a:prstGeom prst="line">
            <a:avLst/>
          </a:prstGeom>
          <a:ln w="1270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15768" y="320040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15768" y="3200400"/>
            <a:ext cx="1965960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2928" y="3273552"/>
            <a:ext cx="1691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5B72E"/>
                </a:solidFill>
                <a:latin typeface="Calibri"/>
              </a:rPr>
              <a:t>KEK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3529584"/>
            <a:ext cx="1691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E6EAF2"/>
                </a:solidFill>
                <a:latin typeface="Calibri"/>
              </a:rPr>
              <a:t>Key Encryption Key</a:t>
            </a:r>
          </a:p>
          <a:p>
            <a:pPr algn="l"/>
            <a:r>
              <a:rPr sz="850" b="0" i="0">
                <a:solidFill>
                  <a:srgbClr val="E6EAF2"/>
                </a:solidFill>
                <a:latin typeface="Calibri"/>
              </a:rPr>
              <a:t>(intra-bank, intra-DC)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698748.0" y="2834640"/>
            <a:ext cx="187452.0" cy="365760"/>
          </a:xfrm>
          <a:prstGeom prst="line">
            <a:avLst/>
          </a:prstGeom>
          <a:ln w="1270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45736" y="3200400"/>
            <a:ext cx="1965960" cy="77724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45736" y="3200400"/>
            <a:ext cx="196596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82896" y="3273552"/>
            <a:ext cx="16916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  <a:latin typeface="Calibri"/>
              </a:rPr>
              <a:t>DEK roots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2896" y="3529584"/>
            <a:ext cx="16916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0">
                <a:solidFill>
                  <a:srgbClr val="E6EAF2"/>
                </a:solidFill>
                <a:latin typeface="Calibri"/>
              </a:rPr>
              <a:t>App-internal data</a:t>
            </a:r>
          </a:p>
          <a:p>
            <a:pPr algn="l"/>
            <a:r>
              <a:rPr sz="850" b="0" i="0">
                <a:solidFill>
                  <a:srgbClr val="E6EAF2"/>
                </a:solidFill>
                <a:latin typeface="Calibri"/>
              </a:rPr>
              <a:t>encryption roots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86200.0" y="2834640"/>
            <a:ext cx="1842516.0" cy="365760"/>
          </a:xfrm>
          <a:prstGeom prst="line">
            <a:avLst/>
          </a:prstGeom>
          <a:ln w="1270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85800" y="4343400"/>
            <a:ext cx="1965960" cy="100584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4343400"/>
            <a:ext cx="196596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4434840"/>
            <a:ext cx="172821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E6EAF2"/>
                </a:solidFill>
                <a:latin typeface="Calibri"/>
              </a:rPr>
              <a:t>PIN keys, MAC keys,</a:t>
            </a:r>
          </a:p>
          <a:p>
            <a:pPr algn="l"/>
            <a:r>
              <a:rPr sz="850" b="1" i="0">
                <a:solidFill>
                  <a:srgbClr val="E6EAF2"/>
                </a:solidFill>
                <a:latin typeface="Calibri"/>
              </a:rPr>
              <a:t>Card cryptograms (CVK,</a:t>
            </a:r>
          </a:p>
          <a:p>
            <a:pPr algn="l"/>
            <a:r>
              <a:rPr sz="850" b="1" i="0">
                <a:solidFill>
                  <a:srgbClr val="E6EAF2"/>
                </a:solidFill>
                <a:latin typeface="Calibri"/>
              </a:rPr>
              <a:t>AC), DUKPT derivation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4846320"/>
            <a:ext cx="172821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9AA5BC"/>
                </a:solidFill>
                <a:latin typeface="Calibri"/>
              </a:rPr>
              <a:t>These actually encrypt customer</a:t>
            </a:r>
          </a:p>
          <a:p>
            <a:pPr algn="l"/>
            <a:r>
              <a:rPr sz="800" b="0" i="1">
                <a:solidFill>
                  <a:srgbClr val="9AA5BC"/>
                </a:solidFill>
                <a:latin typeface="Calibri"/>
              </a:rPr>
              <a:t>PINs, sign card cryptograms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668780.0" y="3977640"/>
            <a:ext cx="0.0" cy="365760"/>
          </a:xfrm>
          <a:prstGeom prst="line">
            <a:avLst/>
          </a:prstGeom>
          <a:ln w="1270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715768" y="4343400"/>
            <a:ext cx="1965960" cy="100584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15768" y="4343400"/>
            <a:ext cx="1965960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434840"/>
            <a:ext cx="172821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E6EAF2"/>
                </a:solidFill>
                <a:latin typeface="Calibri"/>
              </a:rPr>
              <a:t>Working AES sessions for</a:t>
            </a:r>
          </a:p>
          <a:p>
            <a:pPr algn="l"/>
            <a:r>
              <a:rPr sz="850" b="1" i="0">
                <a:solidFill>
                  <a:srgbClr val="E6EAF2"/>
                </a:solidFill>
                <a:latin typeface="Calibri"/>
              </a:rPr>
              <a:t>Finacle, fraud platform,</a:t>
            </a:r>
          </a:p>
          <a:p>
            <a:pPr algn="l"/>
            <a:r>
              <a:rPr sz="850" b="1" i="0">
                <a:solidFill>
                  <a:srgbClr val="E6EAF2"/>
                </a:solidFill>
                <a:latin typeface="Calibri"/>
              </a:rPr>
              <a:t>middleware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4846320"/>
            <a:ext cx="172821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9AA5BC"/>
                </a:solidFill>
                <a:latin typeface="Calibri"/>
              </a:rPr>
              <a:t>Short-lived; rotated daily;</a:t>
            </a:r>
          </a:p>
          <a:p>
            <a:pPr algn="l"/>
            <a:r>
              <a:rPr sz="800" b="0" i="1">
                <a:solidFill>
                  <a:srgbClr val="9AA5BC"/>
                </a:solidFill>
                <a:latin typeface="Calibri"/>
              </a:rPr>
              <a:t>used by app calls into HSM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98748.0" y="3977640"/>
            <a:ext cx="0.0" cy="365760"/>
          </a:xfrm>
          <a:prstGeom prst="line">
            <a:avLst/>
          </a:prstGeom>
          <a:ln w="1270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745736" y="4343400"/>
            <a:ext cx="1965960" cy="100584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45736" y="4343400"/>
            <a:ext cx="196596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64608" y="4434840"/>
            <a:ext cx="172821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1" i="0">
                <a:solidFill>
                  <a:srgbClr val="E6EAF2"/>
                </a:solidFill>
                <a:latin typeface="Calibri"/>
              </a:rPr>
              <a:t>Token / file encryption,</a:t>
            </a:r>
          </a:p>
          <a:p>
            <a:pPr algn="l"/>
            <a:r>
              <a:rPr sz="850" b="1" i="0">
                <a:solidFill>
                  <a:srgbClr val="E6EAF2"/>
                </a:solidFill>
                <a:latin typeface="Calibri"/>
              </a:rPr>
              <a:t>Log integrity (HMAC),</a:t>
            </a:r>
          </a:p>
          <a:p>
            <a:pPr algn="l"/>
            <a:r>
              <a:rPr sz="850" b="1" i="0">
                <a:solidFill>
                  <a:srgbClr val="E6EAF2"/>
                </a:solidFill>
                <a:latin typeface="Calibri"/>
              </a:rPr>
              <a:t>DB column encryption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64608" y="4846320"/>
            <a:ext cx="1728216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00" b="0" i="1">
                <a:solidFill>
                  <a:srgbClr val="9AA5BC"/>
                </a:solidFill>
                <a:latin typeface="Calibri"/>
              </a:rPr>
              <a:t>App-layer protection;</a:t>
            </a:r>
          </a:p>
          <a:p>
            <a:pPr algn="l"/>
            <a:r>
              <a:rPr sz="800" b="0" i="1">
                <a:solidFill>
                  <a:srgbClr val="9AA5BC"/>
                </a:solidFill>
                <a:latin typeface="Calibri"/>
              </a:rPr>
              <a:t>GDPR/RBI data localisation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28716.0" y="3977640"/>
            <a:ext cx="0.0" cy="365760"/>
          </a:xfrm>
          <a:prstGeom prst="line">
            <a:avLst/>
          </a:prstGeom>
          <a:ln w="12700">
            <a:solidFill>
              <a:srgbClr val="9AA5BC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85800" y="5760720"/>
            <a:ext cx="6400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E6EAF2"/>
                </a:solidFill>
                <a:latin typeface="Calibri"/>
              </a:rPr>
              <a:t>Apps see only </a:t>
            </a:r>
            <a:r>
              <a:rPr sz="900" b="1" i="1">
                <a:solidFill>
                  <a:srgbClr val="E6EAF2"/>
                </a:solidFill>
                <a:latin typeface="Calibri"/>
              </a:rPr>
              <a:t>wrapped</a:t>
            </a:r>
            <a:r>
              <a:rPr sz="900" b="0" i="1">
                <a:solidFill>
                  <a:srgbClr val="E6EAF2"/>
                </a:solidFill>
                <a:latin typeface="Calibri"/>
              </a:rPr>
              <a:t> key blobs from the database — the HSM unwraps inside its tamper-protected boundary, performs the op, discards plaintext.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79" y="1417320"/>
            <a:ext cx="429768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26679" y="1554480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WHERE QUANTUM HITS — AND WHAT IS ALREADY SAFE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7726679" y="1920240"/>
          <a:ext cx="42519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</a:tblGrid>
              <a:tr h="5867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B72E"/>
                          </a:solidFill>
                          <a:latin typeface="Calibri"/>
                        </a:rPr>
                        <a:t>Crypto inside HSM</a:t>
                      </a:r>
                    </a:p>
                  </a:txBody>
                  <a:tcPr marL="73152" marR="73152" marT="36576" marB="36576"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B72E"/>
                          </a:solidFill>
                          <a:latin typeface="Calibri"/>
                        </a:rPr>
                        <a:t>Quantum impact</a:t>
                      </a:r>
                    </a:p>
                  </a:txBody>
                  <a:tcPr marL="73152" marR="73152" marT="36576" marB="36576"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B72E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73152" marR="73152" marT="36576" marB="36576">
                    <a:solidFill>
                      <a:srgbClr val="122C55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AES-256 (LMK, KEK, working)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Grover halves to ~128-bit. OK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Stay on AES-256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3DES (legacy DUKPT, old PIN)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Broken classically already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Migrate to AES DUKPT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RSA-2048/3072 (TR-34, certs, code sign)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Shor breaks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ML-DSA / ML-KEM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ECDSA / ECDH (mTLS, key agreement)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Shor breaks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ML-KEM, ML-DSA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SHA-256 / SHA-3 (MAC, integrity)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Grover halves preimage. OK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E6EAF2"/>
                          </a:solidFill>
                          <a:latin typeface="Calibri"/>
                        </a:rPr>
                        <a:t>Stay on SHA-256/384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7726679" y="5577840"/>
            <a:ext cx="3840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E6EAF2"/>
                </a:solidFill>
                <a:latin typeface="Calibri"/>
              </a:rPr>
              <a:t>Bottom line: payments are mostly AES-256 — already largely quantum-safe. Vulnerable parts are the </a:t>
            </a:r>
            <a:r>
              <a:rPr sz="950" b="1" i="1">
                <a:solidFill>
                  <a:srgbClr val="E6EAF2"/>
                </a:solidFill>
                <a:latin typeface="Calibri"/>
              </a:rPr>
              <a:t>public-key wrappers</a:t>
            </a:r>
            <a:r>
              <a:rPr sz="950" b="0" i="1">
                <a:solidFill>
                  <a:srgbClr val="E6EAF2"/>
                </a:solidFill>
                <a:latin typeface="Calibri"/>
              </a:rPr>
              <a:t> around the keys. Those need PQC.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HSM DEEP DIVE (2 OF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Key ceremony and TR-31 / TR-34 transport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Quantum-Safe Communications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553212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532120" cy="54864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81912"/>
            <a:ext cx="5074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LMK GENERATION — THE KEY CEREMONY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057400"/>
            <a:ext cx="5074920" cy="4069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Multi-custodian</a:t>
            </a:r>
            <a:r>
              <a:rPr sz="1000" b="0">
                <a:solidFill>
                  <a:srgbClr val="E6EAF2"/>
                </a:solidFill>
                <a:latin typeface="Calibri"/>
              </a:rPr>
              <a:t>: 3–5 trusted officers (CISO, CRO, Head of Tech, Audit, RBI observer for top-tier).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Officers gather in a secure room with </a:t>
            </a:r>
            <a:r>
              <a:rPr sz="1000" b="1">
                <a:solidFill>
                  <a:srgbClr val="E6EAF2"/>
                </a:solidFill>
                <a:latin typeface="Calibri"/>
              </a:rPr>
              <a:t>CCTV + signed witnesses</a:t>
            </a:r>
            <a:r>
              <a:rPr sz="1000" b="0">
                <a:solidFill>
                  <a:srgbClr val="E6EAF2"/>
                </a:solidFill>
                <a:latin typeface="Calibri"/>
              </a:rPr>
              <a:t>. HSM goes into ceremony mode via a physical key/smart card.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HSM internally generates the LMK using its </a:t>
            </a:r>
            <a:r>
              <a:rPr sz="1000" b="1">
                <a:solidFill>
                  <a:srgbClr val="E6EAF2"/>
                </a:solidFill>
                <a:latin typeface="Calibri"/>
              </a:rPr>
              <a:t>TRNG</a:t>
            </a:r>
            <a:r>
              <a:rPr sz="1000" b="0">
                <a:solidFill>
                  <a:srgbClr val="E6EAF2"/>
                </a:solidFill>
                <a:latin typeface="Calibri"/>
              </a:rPr>
              <a:t> (avalanche-photodiode noise / quantum noise).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LMK is </a:t>
            </a:r>
            <a:r>
              <a:rPr sz="1000" b="1">
                <a:solidFill>
                  <a:srgbClr val="E6EAF2"/>
                </a:solidFill>
                <a:latin typeface="Calibri"/>
              </a:rPr>
              <a:t>split via Shamir's Secret Sharing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typically </a:t>
            </a:r>
            <a:r>
              <a:rPr sz="1000" b="1">
                <a:solidFill>
                  <a:srgbClr val="E6EAF2"/>
                </a:solidFill>
                <a:latin typeface="Calibri"/>
              </a:rPr>
              <a:t>3-of-5</a:t>
            </a:r>
            <a:r>
              <a:rPr sz="1000" b="0">
                <a:solidFill>
                  <a:srgbClr val="E6EAF2"/>
                </a:solidFill>
                <a:latin typeface="Calibri"/>
              </a:rPr>
              <a:t> or </a:t>
            </a:r>
            <a:r>
              <a:rPr sz="1000" b="1">
                <a:solidFill>
                  <a:srgbClr val="E6EAF2"/>
                </a:solidFill>
                <a:latin typeface="Calibri"/>
              </a:rPr>
              <a:t>2-of-3</a:t>
            </a:r>
            <a:r>
              <a:rPr sz="1000" b="0">
                <a:solidFill>
                  <a:srgbClr val="E6EAF2"/>
                </a:solidFill>
                <a:latin typeface="Calibri"/>
              </a:rPr>
              <a:t>: no single custodian can rebuild it; any quorum can.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Each custodian receives their share on a </a:t>
            </a:r>
            <a:r>
              <a:rPr sz="1000" b="1">
                <a:solidFill>
                  <a:srgbClr val="E6EAF2"/>
                </a:solidFill>
                <a:latin typeface="Calibri"/>
              </a:rPr>
              <a:t>PIN-protected smart card</a:t>
            </a:r>
            <a:r>
              <a:rPr sz="1000" b="0">
                <a:solidFill>
                  <a:srgbClr val="E6EAF2"/>
                </a:solidFill>
                <a:latin typeface="Calibri"/>
              </a:rPr>
              <a:t> (Thales SafeNet / PSGcards) or in tamper-evident printed envelope.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Ceremony log is signed and retained </a:t>
            </a:r>
            <a:r>
              <a:rPr sz="1000" b="1">
                <a:solidFill>
                  <a:srgbClr val="E6EAF2"/>
                </a:solidFill>
                <a:latin typeface="Calibri"/>
              </a:rPr>
              <a:t>10 years</a:t>
            </a:r>
            <a:r>
              <a:rPr sz="1000" b="0">
                <a:solidFill>
                  <a:srgbClr val="E6EAF2"/>
                </a:solidFill>
                <a:latin typeface="Calibri"/>
              </a:rPr>
              <a:t> (RBI / FIPS audit).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To re-load the LMK (DR sync, firmware upgrade), the quorum reassembles, inserts cards, HSM reconstructs the LMK </a:t>
            </a:r>
            <a:r>
              <a:rPr sz="1000" b="1">
                <a:solidFill>
                  <a:srgbClr val="E6EAF2"/>
                </a:solidFill>
                <a:latin typeface="Calibri"/>
              </a:rPr>
              <a:t>internally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2EC4B6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Why this matters</a:t>
            </a:r>
            <a:r>
              <a:rPr sz="1000" b="0">
                <a:solidFill>
                  <a:srgbClr val="E6EAF2"/>
                </a:solidFill>
                <a:latin typeface="Calibri"/>
              </a:rPr>
              <a:t>: protects the bank from any single insider walking out with all keys; this is also why LMK rotation is non-trivial — it triggers re-encryption of every wrapped key in the DB.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53212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5532120" cy="54864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81912"/>
            <a:ext cx="5074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INTER-HSM TRANSPORT — TR-34 / TR-31 / PQ TR-34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5074920" cy="40690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Need to move a ZMK between HDFC and NPCI / Visa / partner bank — you can't use the LMK because each org has its own.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TR-34 (one-time exchange)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RSA digital envelope wraps the new ZMK + identity certificate. </a:t>
            </a:r>
            <a:r>
              <a:rPr sz="1000" b="1">
                <a:solidFill>
                  <a:srgbClr val="E6EAF2"/>
                </a:solidFill>
                <a:latin typeface="Calibri"/>
              </a:rPr>
              <a:t>This is the part vulnerable to Shor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TR-31 (key block format)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once a shared KEK is in place, all subsequent keys move as AES-wrapped key blocks with CBC-MAC integrity. </a:t>
            </a:r>
            <a:r>
              <a:rPr sz="1000" b="1">
                <a:solidFill>
                  <a:srgbClr val="E6EAF2"/>
                </a:solidFill>
                <a:latin typeface="Calibri"/>
              </a:rPr>
              <a:t>Already quantum-safe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TR-34 PQ migration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ANSI X9 working group has 2024 draft language replacing RSA wrap with </a:t>
            </a:r>
            <a:r>
              <a:rPr sz="1000" b="1">
                <a:solidFill>
                  <a:srgbClr val="E6EAF2"/>
                </a:solidFill>
                <a:latin typeface="Calibri"/>
              </a:rPr>
              <a:t>ML-KEM-1024</a:t>
            </a:r>
            <a:r>
              <a:rPr sz="1000" b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Vendor support: </a:t>
            </a:r>
            <a:r>
              <a:rPr sz="1000" b="1">
                <a:solidFill>
                  <a:srgbClr val="E6EAF2"/>
                </a:solidFill>
                <a:latin typeface="Calibri"/>
              </a:rPr>
              <a:t>Thales payShield 10K firmware 2.x</a:t>
            </a:r>
            <a:r>
              <a:rPr sz="1000" b="0">
                <a:solidFill>
                  <a:srgbClr val="E6EAF2"/>
                </a:solidFill>
                <a:latin typeface="Calibri"/>
              </a:rPr>
              <a:t> ships ML-KEM/ML-DSA in 2024–25; </a:t>
            </a:r>
            <a:r>
              <a:rPr sz="1000" b="1">
                <a:solidFill>
                  <a:srgbClr val="E6EAF2"/>
                </a:solidFill>
                <a:latin typeface="Calibri"/>
              </a:rPr>
              <a:t>IBM CryptoExpress 8S (4770)</a:t>
            </a:r>
            <a:r>
              <a:rPr sz="1000" b="0">
                <a:solidFill>
                  <a:srgbClr val="E6EAF2"/>
                </a:solidFill>
                <a:latin typeface="Calibri"/>
              </a:rPr>
              <a:t> has PQC on z16.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1">
                <a:solidFill>
                  <a:srgbClr val="E6EAF2"/>
                </a:solidFill>
                <a:latin typeface="Calibri"/>
              </a:rPr>
              <a:t>Action for HDFC</a:t>
            </a:r>
            <a:r>
              <a:rPr sz="1000" b="0">
                <a:solidFill>
                  <a:srgbClr val="E6EAF2"/>
                </a:solidFill>
                <a:latin typeface="Calibri"/>
              </a:rPr>
              <a:t>: schedule next TR-34 ceremony with NPCI for FY27 once their PQ profile is published; in the meantime, all new ZMKs use 4096-bit RSA + AES-256 wrap (defence in depth).</a:t>
            </a:r>
          </a:p>
          <a:p>
            <a:pPr algn="l">
              <a:lnSpc>
                <a:spcPct val="118000"/>
              </a:lnSpc>
            </a:pPr>
            <a:r>
              <a:rPr sz="1000" b="1">
                <a:solidFill>
                  <a:srgbClr val="F5B72E"/>
                </a:solidFill>
                <a:latin typeface="Calibri"/>
              </a:rPr>
              <a:t>■  </a:t>
            </a:r>
            <a:r>
              <a:rPr sz="1000" b="0">
                <a:solidFill>
                  <a:srgbClr val="E6EAF2"/>
                </a:solidFill>
                <a:latin typeface="Calibri"/>
              </a:rPr>
              <a:t>Existing TR-31 traffic (working keys flowing intra-bank, intra-DC) is </a:t>
            </a:r>
            <a:r>
              <a:rPr sz="1000" b="1">
                <a:solidFill>
                  <a:srgbClr val="E6EAF2"/>
                </a:solidFill>
                <a:latin typeface="Calibri"/>
              </a:rPr>
              <a:t>AES-wrapped</a:t>
            </a:r>
            <a:r>
              <a:rPr sz="1000" b="0">
                <a:solidFill>
                  <a:srgbClr val="E6EAF2"/>
                </a:solidFill>
                <a:latin typeface="Calibri"/>
              </a:rPr>
              <a:t> — no migration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QKD keys flowing into HSM-anchored encryptors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Quantum-Safe Communications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237744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481328"/>
            <a:ext cx="21031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EC4B6"/>
                </a:solidFill>
                <a:latin typeface="Calibri"/>
              </a:rPr>
              <a:t>HQ MUMBAI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0992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E6EAF2"/>
                </a:solidFill>
                <a:latin typeface="Calibri"/>
              </a:rPr>
              <a:t>5–30 km dark fibre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417320"/>
            <a:ext cx="2377440" cy="59436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89720" y="1417320"/>
            <a:ext cx="237744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481328"/>
            <a:ext cx="21031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ED232A"/>
                </a:solidFill>
                <a:latin typeface="Calibri"/>
              </a:rPr>
              <a:t>PRIMARY DC MUMBAI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709928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1">
                <a:solidFill>
                  <a:srgbClr val="E6EAF2"/>
                </a:solidFill>
                <a:latin typeface="Calibri"/>
              </a:rPr>
              <a:t>5–30 km dark fibre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103120"/>
            <a:ext cx="10561320" cy="384048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148840"/>
            <a:ext cx="10195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2EC4B6"/>
                </a:solidFill>
                <a:latin typeface="Calibri"/>
              </a:rPr>
              <a:t>QKD photon channel — dedicated O-band wavelength — outputs identical 256-bit AES key every ~1 sec at both ends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60604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606040"/>
            <a:ext cx="237744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670048"/>
            <a:ext cx="21031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EC4B6"/>
                </a:solidFill>
                <a:latin typeface="Calibri"/>
              </a:rPr>
              <a:t>QKD BOX (KME)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898648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Toshiba MDI-QKD</a:t>
            </a:r>
          </a:p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or IDQ Clavis XGR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60604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2606040"/>
            <a:ext cx="237744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2670048"/>
            <a:ext cx="21031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2EC4B6"/>
                </a:solidFill>
                <a:latin typeface="Calibri"/>
              </a:rPr>
              <a:t>QKD BOX (KME)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898648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Toshiba MDI-QKD</a:t>
            </a:r>
          </a:p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or IDQ Clavis XGR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2697480"/>
            <a:ext cx="5669280" cy="594360"/>
          </a:xfrm>
          <a:prstGeom prst="roundRect">
            <a:avLst>
              <a:gd name="adj" fmla="val 8000"/>
            </a:avLst>
          </a:prstGeom>
          <a:solidFill>
            <a:srgbClr val="14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2715768"/>
            <a:ext cx="55778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2EC4B6"/>
                </a:solidFill>
                <a:latin typeface="Calibri"/>
              </a:rPr>
              <a:t>ETSI GS QKD 014/004 REST API delivers fresh</a:t>
            </a:r>
          </a:p>
          <a:p>
            <a:pPr algn="ctr"/>
            <a:r>
              <a:rPr sz="1000" b="0" i="1">
                <a:solidFill>
                  <a:srgbClr val="2EC4B6"/>
                </a:solidFill>
                <a:latin typeface="Calibri"/>
              </a:rPr>
              <a:t>AES-256 keys into the encryptor every ~1 second.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61188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611880"/>
            <a:ext cx="2377440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675888"/>
            <a:ext cx="21031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5B72E"/>
                </a:solidFill>
                <a:latin typeface="Calibri"/>
              </a:rPr>
              <a:t>ENCRYPTOR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904488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Thales CN9100 / Senetas</a:t>
            </a:r>
          </a:p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CN6140 / Ciena WL5e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3611880"/>
            <a:ext cx="2377440" cy="77724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9720" y="3611880"/>
            <a:ext cx="2377440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675888"/>
            <a:ext cx="21031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F5B72E"/>
                </a:solidFill>
                <a:latin typeface="Calibri"/>
              </a:rPr>
              <a:t>ENCRYPTOR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904488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Thales CN9100 / Senetas</a:t>
            </a:r>
          </a:p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CN6140 / Ciena WL5e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526280"/>
            <a:ext cx="10561320" cy="384048"/>
          </a:xfrm>
          <a:prstGeom prst="roundRect">
            <a:avLst>
              <a:gd name="adj" fmla="val 8000"/>
            </a:avLst>
          </a:prstGeom>
          <a:solidFill>
            <a:srgbClr val="3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572000"/>
            <a:ext cx="1019556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F5B72E"/>
                </a:solidFill>
                <a:latin typeface="Calibri"/>
              </a:rPr>
              <a:t>AES-256 encrypted bulk traffic — 10–400 Gbps DWDM channels (core banking, card switch, treasury, HSM sync)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560" y="5074920"/>
            <a:ext cx="5669280" cy="502920"/>
          </a:xfrm>
          <a:prstGeom prst="roundRect">
            <a:avLst>
              <a:gd name="adj" fmla="val 8000"/>
            </a:avLst>
          </a:prstGeom>
          <a:solidFill>
            <a:srgbClr val="33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5129784"/>
            <a:ext cx="5577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ED232A"/>
                </a:solidFill>
                <a:latin typeface="Calibri"/>
              </a:rPr>
              <a:t>Encryptor authenticates to the HSM at boot (ML-DSA / ECDSA),</a:t>
            </a:r>
          </a:p>
          <a:p>
            <a:pPr algn="ctr"/>
            <a:r>
              <a:rPr sz="1000" b="0" i="1">
                <a:solidFill>
                  <a:srgbClr val="ED232A"/>
                </a:solidFill>
                <a:latin typeface="Calibri"/>
              </a:rPr>
              <a:t>receives its long-lived identity certificate.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669280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5669280"/>
            <a:ext cx="237744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33288"/>
            <a:ext cx="21031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ED232A"/>
                </a:solidFill>
                <a:latin typeface="Calibri"/>
              </a:rPr>
              <a:t>HSM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80176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Thales payShield 10K HSM cluster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9720" y="5669280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89720" y="5669280"/>
            <a:ext cx="237744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5733288"/>
            <a:ext cx="21031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 i="0">
                <a:solidFill>
                  <a:srgbClr val="ED232A"/>
                </a:solidFill>
                <a:latin typeface="Calibri"/>
              </a:rPr>
              <a:t>HSM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980176"/>
            <a:ext cx="21031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E6EAF2"/>
                </a:solidFill>
                <a:latin typeface="Calibri"/>
              </a:rPr>
              <a:t>Thales payShield 10K HSM cluster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828800.0" y="3383280"/>
            <a:ext cx="0.0" cy="228600"/>
          </a:xfrm>
          <a:prstGeom prst="line">
            <a:avLst/>
          </a:prstGeom>
          <a:ln w="19050">
            <a:solidFill>
              <a:srgbClr val="2EC4B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828800.0" y="4389120"/>
            <a:ext cx="0.0" cy="1280160"/>
          </a:xfrm>
          <a:prstGeom prst="line">
            <a:avLst/>
          </a:prstGeom>
          <a:ln w="19050">
            <a:solidFill>
              <a:srgbClr val="ED23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378440.0" y="3383280"/>
            <a:ext cx="0.0" cy="228600"/>
          </a:xfrm>
          <a:prstGeom prst="line">
            <a:avLst/>
          </a:prstGeom>
          <a:ln w="19050">
            <a:solidFill>
              <a:srgbClr val="2EC4B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378440.0" y="4389120"/>
            <a:ext cx="0.0" cy="1280160"/>
          </a:xfrm>
          <a:prstGeom prst="line">
            <a:avLst/>
          </a:prstGeom>
          <a:ln w="19050">
            <a:solidFill>
              <a:srgbClr val="ED232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CAPEX + OPEX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Cost — Indian context, FY26 INR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Quantum-Safe Communications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694944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6949440" cy="54864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54480"/>
            <a:ext cx="6492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PROGRAMME CAPEX OVER 24–36 MONTHS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1965960"/>
          <a:ext cx="640080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280160"/>
              </a:tblGrid>
              <a:tr h="3699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B72E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36576" marB="36576"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B72E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73152" marR="73152" marT="36576" marB="36576"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B72E"/>
                          </a:solidFill>
                          <a:latin typeface="Calibri"/>
                        </a:rPr>
                        <a:t>Rs Cr</a:t>
                      </a:r>
                    </a:p>
                  </a:txBody>
                  <a:tcPr marL="73152" marR="73152" marT="36576" marB="36576">
                    <a:solidFill>
                      <a:srgbClr val="122C55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HSM refresh (Thales payShield 10K)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16 prod (DC) + 6 (DR) + 4 (HQ)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9–13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PQC integration services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Libraries + cert PKI + apps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6–10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QKD pair, HQ ↔ DC Mumbai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Toshiba MDI-QKD or IDQ Clavis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8–15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Quantum-safe encryptors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Thales CN9100 / Senetas CN6140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2.5–4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Dark fibre / DWDM wavelength capex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If not already owned (~30 km)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1–3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Branch-side PQC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TLS lib upgrade + cert refresh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4–6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PKI overhaul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Internal CA, OCSP, ML-DSA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3–5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CryptoBOM tooling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IBM Crypto Discovery / SandboxAQ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2–4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699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DR satellite-QKD R&amp;D pilot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ISRO / TIFR partnership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5–8 (R&amp;D)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699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Training, consulting, RBI engagement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Programme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3–5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7589520" y="1417320"/>
            <a:ext cx="416052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1417320"/>
            <a:ext cx="4160520" cy="54864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1554480"/>
            <a:ext cx="3703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ANNUAL OPEX (POST-ROLLOUT)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63840" y="1965960"/>
          <a:ext cx="36118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143000"/>
              </a:tblGrid>
              <a:tr h="33310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B72E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36576" marB="36576">
                    <a:solidFill>
                      <a:srgbClr val="122C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5B72E"/>
                          </a:solidFill>
                          <a:latin typeface="Calibri"/>
                        </a:rPr>
                        <a:t>Rs Cr / yr</a:t>
                      </a:r>
                    </a:p>
                  </a:txBody>
                  <a:tcPr marL="73152" marR="73152" marT="36576" marB="36576">
                    <a:solidFill>
                      <a:srgbClr val="122C55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HSM maintenance + FIPS recerts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1.5–2.5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QKD link maintenance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1.5–3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Dark fibre lease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1–2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PQC library subs (PQShield, etc.)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0.5–1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Annual key ceremonies + audits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0.5–1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Skilled crypto / quantum team (8–12 FTE)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E6EAF2"/>
                          </a:solidFill>
                          <a:latin typeface="Calibri"/>
                        </a:rPr>
                        <a:t>4–6</a:t>
                      </a:r>
                    </a:p>
                  </a:txBody>
                  <a:tcPr marL="73152" marR="73152" marT="36576" marB="36576">
                    <a:solidFill>
                      <a:srgbClr val="0A1E3F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818120" y="4526280"/>
            <a:ext cx="3703320" cy="1508760"/>
          </a:xfrm>
          <a:prstGeom prst="roundRect">
            <a:avLst>
              <a:gd name="adj" fmla="val 8000"/>
            </a:avLst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4526280"/>
            <a:ext cx="3703320" cy="54864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466344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Calibri"/>
              </a:rPr>
              <a:t>THE NUMBER FOR THE 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4983480"/>
            <a:ext cx="3429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Rs 50–70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5440680"/>
            <a:ext cx="3429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programme over FY26–FY28</a:t>
            </a:r>
          </a:p>
          <a:p>
            <a:pPr algn="l"/>
            <a:r>
              <a:rPr sz="1000" b="0" i="0">
                <a:solidFill>
                  <a:srgbClr val="E6EAF2"/>
                </a:solidFill>
                <a:latin typeface="Calibri"/>
              </a:rPr>
              <a:t>plus Rs 10–15 Cr/yr opex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HOW WE GET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Adoption roadmap — 36 months, 5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Quantum-Safe Communications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219456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2194560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81912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Phase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74520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E6EAF2"/>
                </a:solidFill>
                <a:latin typeface="Calibri"/>
              </a:rPr>
              <a:t>Months 0–3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1945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CryptoBOM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06040"/>
            <a:ext cx="1920240" cy="35204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2EC4B6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Inventory </a:t>
            </a:r>
            <a:r>
              <a:rPr sz="850" b="1">
                <a:solidFill>
                  <a:srgbClr val="E6EAF2"/>
                </a:solidFill>
                <a:latin typeface="Calibri"/>
              </a:rPr>
              <a:t>every</a:t>
            </a:r>
            <a:r>
              <a:rPr sz="850" b="0">
                <a:solidFill>
                  <a:srgbClr val="E6EAF2"/>
                </a:solidFill>
                <a:latin typeface="Calibri"/>
              </a:rPr>
              <a:t> classical asymmetric crypto use (TLS, IPsec, code sign, certs, JWT, S/MIME, archived data).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2EC4B6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Tag by algorithm, key length, sensitivity, retention, replacement difficulty.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2EC4B6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Tools: IBM Crypto Discovery, SandboxAQ AQtive Guard, open-source crypto-cbom.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2EC4B6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Output: heat-map of where to migrate first.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2EC4B6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Cost: ~Rs 2–3 Cr.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20340" y="1417320"/>
            <a:ext cx="219456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20340" y="1417320"/>
            <a:ext cx="2194560" cy="64008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7500" y="1581912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Phase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7500" y="1874520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E6EAF2"/>
                </a:solidFill>
                <a:latin typeface="Calibri"/>
              </a:rPr>
              <a:t>Months 3–9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7500" y="21945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HSM + PKI 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57500" y="2606040"/>
            <a:ext cx="1920240" cy="35204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F5B72E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Refresh HSM fleet to current gen (Thales payShield 10K firmware ≥ 2.x, IBM CryptoExpress 8S).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F5B72E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Both vendors ship </a:t>
            </a:r>
            <a:r>
              <a:rPr sz="850" b="1">
                <a:solidFill>
                  <a:srgbClr val="E6EAF2"/>
                </a:solidFill>
                <a:latin typeface="Calibri"/>
              </a:rPr>
              <a:t>ML-KEM and ML-DSA</a:t>
            </a:r>
            <a:r>
              <a:rPr sz="850" b="0">
                <a:solidFill>
                  <a:srgbClr val="E6EAF2"/>
                </a:solidFill>
                <a:latin typeface="Calibri"/>
              </a:rPr>
              <a:t> in 2024–25 firmware.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F5B72E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Stand up post-quantum-ready internal CA (EJBCA 8.x with Dilithium, Entrust nShield CA).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F5B72E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Add </a:t>
            </a:r>
            <a:r>
              <a:rPr sz="850" b="1">
                <a:solidFill>
                  <a:srgbClr val="E6EAF2"/>
                </a:solidFill>
                <a:latin typeface="Calibri"/>
              </a:rPr>
              <a:t>crypto-agility wrapper</a:t>
            </a:r>
            <a:r>
              <a:rPr sz="850" b="0">
                <a:solidFill>
                  <a:srgbClr val="E6EAF2"/>
                </a:solidFill>
                <a:latin typeface="Calibri"/>
              </a:rPr>
              <a:t> to internal libs so apps swap algos without code change.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1417320"/>
            <a:ext cx="219456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83480" y="1417320"/>
            <a:ext cx="2194560" cy="6400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1581912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alibri"/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1874520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E6EAF2"/>
                </a:solidFill>
                <a:latin typeface="Calibri"/>
              </a:rPr>
              <a:t>Months 6–15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1945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PQC 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606040"/>
            <a:ext cx="1920240" cy="35204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E67E22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Pick one </a:t>
            </a:r>
            <a:r>
              <a:rPr sz="850" b="1">
                <a:solidFill>
                  <a:srgbClr val="E6EAF2"/>
                </a:solidFill>
                <a:latin typeface="Calibri"/>
              </a:rPr>
              <a:t>non-customer-facing TLS endpoint</a:t>
            </a:r>
            <a:r>
              <a:rPr sz="850" b="0">
                <a:solidFill>
                  <a:srgbClr val="E6EAF2"/>
                </a:solidFill>
                <a:latin typeface="Calibri"/>
              </a:rPr>
              <a:t> (admin portal, MIS dashboard).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E67E22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Deploy in </a:t>
            </a:r>
            <a:r>
              <a:rPr sz="850" b="1">
                <a:solidFill>
                  <a:srgbClr val="E6EAF2"/>
                </a:solidFill>
                <a:latin typeface="Calibri"/>
              </a:rPr>
              <a:t>hybrid mode</a:t>
            </a:r>
            <a:r>
              <a:rPr sz="850" b="0">
                <a:solidFill>
                  <a:srgbClr val="E6EAF2"/>
                </a:solidFill>
                <a:latin typeface="Calibri"/>
              </a:rPr>
              <a:t>: handshake = X25519 + ML-KEM-768.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E67E22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If ML-KEM is broken, X25519 still protects you; if X25519 is broken by quantum, ML-KEM does.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E67E22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Measure latency, cert size, library compat. Train SOC.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46620" y="1417320"/>
            <a:ext cx="219456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46620" y="1417320"/>
            <a:ext cx="2194560" cy="64008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3780" y="1581912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Phase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3780" y="1874520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E6EAF2"/>
                </a:solidFill>
                <a:latin typeface="Calibri"/>
              </a:rPr>
              <a:t>Months 12–24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3780" y="21945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PQC fleet rollout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3780" y="2606040"/>
            <a:ext cx="1920240" cy="35204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ED232A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Roll PQC out to </a:t>
            </a:r>
            <a:r>
              <a:rPr sz="850" b="1">
                <a:solidFill>
                  <a:srgbClr val="E6EAF2"/>
                </a:solidFill>
                <a:latin typeface="Calibri"/>
              </a:rPr>
              <a:t>all internal mTLS</a:t>
            </a:r>
            <a:r>
              <a:rPr sz="850" b="0">
                <a:solidFill>
                  <a:srgbClr val="E6EAF2"/>
                </a:solidFill>
                <a:latin typeface="Calibri"/>
              </a:rPr>
              <a:t> between microservices.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ED232A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Migrate </a:t>
            </a:r>
            <a:r>
              <a:rPr sz="850" b="1">
                <a:solidFill>
                  <a:srgbClr val="E6EAF2"/>
                </a:solidFill>
                <a:latin typeface="Calibri"/>
              </a:rPr>
              <a:t>branch ↔ regional hub IPsec</a:t>
            </a:r>
            <a:r>
              <a:rPr sz="850" b="0">
                <a:solidFill>
                  <a:srgbClr val="E6EAF2"/>
                </a:solidFill>
                <a:latin typeface="Calibri"/>
              </a:rPr>
              <a:t> during SD-WAN refresh cycle.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ED232A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Migrate </a:t>
            </a:r>
            <a:r>
              <a:rPr sz="850" b="1">
                <a:solidFill>
                  <a:srgbClr val="E6EAF2"/>
                </a:solidFill>
                <a:latin typeface="Calibri"/>
              </a:rPr>
              <a:t>mobile / net banking TLS</a:t>
            </a:r>
            <a:r>
              <a:rPr sz="850" b="0">
                <a:solidFill>
                  <a:srgbClr val="E6EAF2"/>
                </a:solidFill>
                <a:latin typeface="Calibri"/>
              </a:rPr>
              <a:t> to hybrid (iOS 18, Chrome already negotiate Kyber).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ED232A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Upgrade </a:t>
            </a:r>
            <a:r>
              <a:rPr sz="850" b="1">
                <a:solidFill>
                  <a:srgbClr val="E6EAF2"/>
                </a:solidFill>
                <a:latin typeface="Calibri"/>
              </a:rPr>
              <a:t>TR-34</a:t>
            </a:r>
            <a:r>
              <a:rPr sz="850" b="0">
                <a:solidFill>
                  <a:srgbClr val="E6EAF2"/>
                </a:solidFill>
                <a:latin typeface="Calibri"/>
              </a:rPr>
              <a:t> ceremonies with NPCI / Visa / MC as their PQ profiles ratify.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1417320"/>
            <a:ext cx="2194560" cy="484632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09760" y="1417320"/>
            <a:ext cx="2194560" cy="6400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1581912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Phase 4 + 5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1874520"/>
            <a:ext cx="1920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E6EAF2"/>
                </a:solidFill>
                <a:latin typeface="Calibri"/>
              </a:rPr>
              <a:t>Months 18–36+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2194560"/>
            <a:ext cx="1920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QKD metro + DR R&amp;D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2606040"/>
            <a:ext cx="1920240" cy="35204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>
                <a:solidFill>
                  <a:srgbClr val="2EC4B6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Procure </a:t>
            </a:r>
            <a:r>
              <a:rPr sz="850" b="1">
                <a:solidFill>
                  <a:srgbClr val="E6EAF2"/>
                </a:solidFill>
                <a:latin typeface="Calibri"/>
              </a:rPr>
              <a:t>Toshiba MDI-QKD or IDQ Clavis XGR pair</a:t>
            </a:r>
            <a:r>
              <a:rPr sz="850" b="0">
                <a:solidFill>
                  <a:srgbClr val="E6EAF2"/>
                </a:solidFill>
                <a:latin typeface="Calibri"/>
              </a:rPr>
              <a:t> for HQ ↔ Primary DC.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2EC4B6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Deploy Thales/Senetas/Ciena PQC encryptors on either side (ETSI GS QKD 014).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2EC4B6"/>
                </a:solidFill>
                <a:latin typeface="Calibri"/>
              </a:rPr>
              <a:t>■  </a:t>
            </a:r>
            <a:r>
              <a:rPr sz="850" b="0">
                <a:solidFill>
                  <a:srgbClr val="E6EAF2"/>
                </a:solidFill>
                <a:latin typeface="Calibri"/>
              </a:rPr>
              <a:t>Carry HSM cluster sync, treasury, Finacle replication. Shadow mode 6 mo, then prod.</a:t>
            </a:r>
          </a:p>
          <a:p>
            <a:pPr algn="l">
              <a:lnSpc>
                <a:spcPct val="115000"/>
              </a:lnSpc>
            </a:pPr>
            <a:r>
              <a:rPr sz="850" b="1">
                <a:solidFill>
                  <a:srgbClr val="2EC4B6"/>
                </a:solidFill>
                <a:latin typeface="Calibri"/>
              </a:rPr>
              <a:t>■  </a:t>
            </a:r>
            <a:r>
              <a:rPr sz="850" b="1">
                <a:solidFill>
                  <a:srgbClr val="E6EAF2"/>
                </a:solidFill>
                <a:latin typeface="Calibri"/>
              </a:rPr>
              <a:t>DR R&amp;D</a:t>
            </a:r>
            <a:r>
              <a:rPr sz="850" b="0">
                <a:solidFill>
                  <a:srgbClr val="E6EAF2"/>
                </a:solidFill>
                <a:latin typeface="Calibri"/>
              </a:rPr>
              <a:t>: free-space / satellite QKD with TIFR / IISc / ISRO. NQM-funded.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657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DECISION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96012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Call to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9525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dfc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365760"/>
            <a:ext cx="132588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9AA5BC"/>
                </a:solidFill>
                <a:latin typeface="Calibri"/>
              </a:rPr>
              <a:t>HDFC Bank • Quantum-Safe Communications •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9AA5BC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11247120" cy="18288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73152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581912"/>
            <a:ext cx="1069848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5960"/>
            <a:ext cx="106984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E6EAF2"/>
                </a:solidFill>
                <a:latin typeface="Calibri"/>
              </a:rPr>
              <a:t>Approve </a:t>
            </a:r>
            <a:r>
              <a:rPr sz="1600" b="1" i="0">
                <a:solidFill>
                  <a:srgbClr val="E6EAF2"/>
                </a:solidFill>
                <a:latin typeface="Calibri"/>
              </a:rPr>
              <a:t>Phase 0 + Phase 1 funding of Rs 12–18 Cr for FY26</a:t>
            </a:r>
          </a:p>
          <a:p>
            <a:pPr algn="l"/>
            <a:r>
              <a:rPr sz="1600" b="0" i="0">
                <a:solidFill>
                  <a:srgbClr val="E6EAF2"/>
                </a:solidFill>
                <a:latin typeface="Calibri"/>
              </a:rPr>
              <a:t>— CryptoBOM inventory, HSM refresh to PQC-capable firmware, internal PKI overhaul.</a:t>
            </a:r>
          </a:p>
          <a:p>
            <a:pPr algn="l"/>
            <a:r>
              <a:rPr sz="1600" b="0" i="0">
                <a:solidFill>
                  <a:srgbClr val="E6EAF2"/>
                </a:solidFill>
                <a:latin typeface="Calibri"/>
              </a:rPr>
              <a:t>Go / no-go gate at month 9 for </a:t>
            </a:r>
            <a:r>
              <a:rPr sz="1600" b="1" i="0">
                <a:solidFill>
                  <a:srgbClr val="E6EAF2"/>
                </a:solidFill>
                <a:latin typeface="Calibri"/>
              </a:rPr>
              <a:t>PQC pilot (Phase 2)</a:t>
            </a:r>
            <a:r>
              <a:rPr sz="1600" b="0" i="0">
                <a:solidFill>
                  <a:srgbClr val="E6EAF2"/>
                </a:solidFill>
                <a:latin typeface="Calibri"/>
              </a:rPr>
              <a:t>.</a:t>
            </a:r>
          </a:p>
          <a:p>
            <a:pPr algn="l"/>
            <a:r>
              <a:rPr sz="1600" b="0" i="0">
                <a:solidFill>
                  <a:srgbClr val="E6EAF2"/>
                </a:solidFill>
                <a:latin typeface="Calibri"/>
              </a:rPr>
              <a:t>Full programme envelope </a:t>
            </a:r>
            <a:r>
              <a:rPr sz="1600" b="1" i="0">
                <a:solidFill>
                  <a:srgbClr val="E6EAF2"/>
                </a:solidFill>
                <a:latin typeface="Calibri"/>
              </a:rPr>
              <a:t>Rs 50–70 Cr</a:t>
            </a:r>
            <a:r>
              <a:rPr sz="1600" b="0" i="0">
                <a:solidFill>
                  <a:srgbClr val="E6EAF2"/>
                </a:solidFill>
                <a:latin typeface="Calibri"/>
              </a:rPr>
              <a:t> over FY26–FY28.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20440"/>
            <a:ext cx="3703320" cy="4572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85032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Calibri"/>
              </a:rPr>
              <a:t>REGULATORY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324612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RBI Master Direction on IT Governance (Nov 2023) and SEBI CSCRF (2024) flag PQC migration as a forward-looking control.</a:t>
            </a:r>
          </a:p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NIST FIPS-203 / 204 / 205 finalised Aug 2024 — audit baseline now established.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9100" y="352044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9100" y="3520440"/>
            <a:ext cx="3703320" cy="45720"/>
          </a:xfrm>
          <a:prstGeom prst="rect">
            <a:avLst/>
          </a:prstGeom>
          <a:solidFill>
            <a:srgbClr val="ED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7700" y="3685032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D232A"/>
                </a:solidFill>
                <a:latin typeface="Calibri"/>
              </a:rPr>
              <a:t>THREAT REALITY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700" y="4114800"/>
            <a:ext cx="324612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EAF2"/>
                </a:solidFill>
                <a:latin typeface="Calibri"/>
              </a:rPr>
              <a:t>Harvest now, decrypt later</a:t>
            </a:r>
            <a:r>
              <a:rPr sz="1100" b="0" i="0">
                <a:solidFill>
                  <a:srgbClr val="E6EAF2"/>
                </a:solidFill>
                <a:latin typeface="Calibri"/>
              </a:rPr>
              <a:t> is happening today on carrier fibre. KYC, loan files, treasury positions captured in 2024 will be readable in 2030–35. The clock is already running.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3520440"/>
            <a:ext cx="3703320" cy="2057400"/>
          </a:xfrm>
          <a:prstGeom prst="roundRect">
            <a:avLst>
              <a:gd name="adj" fmla="val 8000"/>
            </a:avLst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3520440"/>
            <a:ext cx="3703320" cy="45720"/>
          </a:xfrm>
          <a:prstGeom prst="rect">
            <a:avLst/>
          </a:prstGeom>
          <a:solidFill>
            <a:srgbClr val="F5B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685032"/>
            <a:ext cx="3246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F5B72E"/>
                </a:solidFill>
                <a:latin typeface="Calibri"/>
              </a:rPr>
              <a:t>STRATEGIC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14800"/>
            <a:ext cx="324612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EAF2"/>
                </a:solidFill>
                <a:latin typeface="Calibri"/>
              </a:rPr>
              <a:t>JPMC and HSBC have shipped QKD pilots; SBI, ICICI and Axis are early in PQC. </a:t>
            </a:r>
            <a:r>
              <a:rPr sz="1100" b="1" i="0">
                <a:solidFill>
                  <a:srgbClr val="E6EAF2"/>
                </a:solidFill>
                <a:latin typeface="Calibri"/>
              </a:rPr>
              <a:t>18-month head-start</a:t>
            </a:r>
            <a:r>
              <a:rPr sz="1100" b="0" i="0">
                <a:solidFill>
                  <a:srgbClr val="E6EAF2"/>
                </a:solidFill>
                <a:latin typeface="Calibri"/>
              </a:rPr>
              <a:t> maps directly to talent acquisition, IP, and India's National Quantum Mission positioning.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solidFill>
            <a:srgbClr val="12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5B72E"/>
                </a:solidFill>
                <a:latin typeface="Calibri"/>
              </a:rPr>
              <a:t>Author: SVP — Kranthi Molleti  •  HDFC Bank Quantum Computing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