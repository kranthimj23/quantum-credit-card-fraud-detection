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Card fraud (Rs Cr)</c:v>
                </c:pt>
              </c:strCache>
            </c:strRef>
          </c:tx>
          <c:spPr>
            <a:solidFill>
              <a:srgbClr val="ED232A"/>
            </a:solidFill>
          </c:spPr>
          <c:cat>
            <c:strRef>
              <c:f>Sheet1!$A$2:$A$6</c:f>
              <c:strCache>
                <c:ptCount val="5"/>
                <c:pt idx="0">
                  <c:v>FY20</c:v>
                </c:pt>
                <c:pt idx="1">
                  <c:v>FY21</c:v>
                </c:pt>
                <c:pt idx="2">
                  <c:v>FY22</c:v>
                </c:pt>
                <c:pt idx="3">
                  <c:v>FY23</c:v>
                </c:pt>
                <c:pt idx="4">
                  <c:v>FY24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520</c:v>
                </c:pt>
                <c:pt idx="1">
                  <c:v>660</c:v>
                </c:pt>
                <c:pt idx="2">
                  <c:v>850</c:v>
                </c:pt>
                <c:pt idx="3">
                  <c:v>1080</c:v>
                </c:pt>
                <c:pt idx="4">
                  <c:v>1300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FFFF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E6EAF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9AA5B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FFFFFF"/>
                </a:solidFill>
              </a:rPr>
              <a:t>Recall @ 1% FPR vs feature count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ln w="31750">
              <a:solidFill>
                <a:srgbClr val="2EC4B6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250</c:v>
                </c:pt>
                <c:pt idx="5">
                  <c:v>500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0.41</c:v>
                </c:pt>
                <c:pt idx="1">
                  <c:v>0.55</c:v>
                </c:pt>
                <c:pt idx="2">
                  <c:v>0.59</c:v>
                </c:pt>
                <c:pt idx="3">
                  <c:v>0.61</c:v>
                </c:pt>
                <c:pt idx="4">
                  <c:v>0.62</c:v>
                </c:pt>
                <c:pt idx="5">
                  <c:v>0.62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XGBoost</c:v>
                </c:pt>
              </c:strCache>
            </c:strRef>
          </c:tx>
          <c:spPr>
            <a:ln w="31750">
              <a:solidFill>
                <a:srgbClr val="F5B72E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250</c:v>
                </c:pt>
                <c:pt idx="5">
                  <c:v>500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0.55</c:v>
                </c:pt>
                <c:pt idx="1">
                  <c:v>0.71</c:v>
                </c:pt>
                <c:pt idx="2">
                  <c:v>0.78</c:v>
                </c:pt>
                <c:pt idx="3">
                  <c:v>0.81</c:v>
                </c:pt>
                <c:pt idx="4">
                  <c:v>0.82</c:v>
                </c:pt>
                <c:pt idx="5">
                  <c:v>0.82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Quantum kernel (QSVC, projected)</c:v>
                </c:pt>
              </c:strCache>
            </c:strRef>
          </c:tx>
          <c:spPr>
            <a:ln w="31750">
              <a:solidFill>
                <a:srgbClr val="ED232A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250</c:v>
                </c:pt>
                <c:pt idx="5">
                  <c:v>500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0.46</c:v>
                </c:pt>
                <c:pt idx="1">
                  <c:v>0.64</c:v>
                </c:pt>
                <c:pt idx="2">
                  <c:v>0.78</c:v>
                </c:pt>
                <c:pt idx="3">
                  <c:v>0.85</c:v>
                </c:pt>
                <c:pt idx="4">
                  <c:v>0.89</c:v>
                </c:pt>
                <c:pt idx="5">
                  <c:v>0.92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E6EAF2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E6EAF2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E6EAF2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Genuine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2EC4B6"/>
              </a:solidFill>
              <a:ln>
                <a:solidFill>
                  <a:srgbClr val="2EC4B6"/>
                </a:solidFill>
              </a:ln>
            </c:spPr>
          </c:marker>
          <c:xVal>
            <c:numRef>
              <c:f>Sheet1!$A$2:$A$61</c:f>
              <c:numCache>
                <c:formatCode>General</c:formatCode>
                <c:ptCount val="60"/>
                <c:pt idx="0">
                  <c:v>0.5</c:v>
                </c:pt>
                <c:pt idx="1">
                  <c:v>0.5054621159612371</c:v>
                </c:pt>
                <c:pt idx="2">
                  <c:v>0.5057143541660807</c:v>
                </c:pt>
                <c:pt idx="3">
                  <c:v>0.5005963203018176</c:v>
                </c:pt>
                <c:pt idx="4">
                  <c:v>0.4900044488095349</c:v>
                </c:pt>
                <c:pt idx="5">
                  <c:v>0.4738945834208013</c:v>
                </c:pt>
                <c:pt idx="6">
                  <c:v>0.4522839169705037</c:v>
                </c:pt>
                <c:pt idx="7">
                  <c:v>0.4252522561301756</c:v>
                </c:pt>
                <c:pt idx="8">
                  <c:v>0.3929425840718013</c:v>
                </c:pt>
                <c:pt idx="9">
                  <c:v>0.35556090185082007</c:v>
                </c:pt>
                <c:pt idx="10">
                  <c:v>0.313375337403521</c:v>
                </c:pt>
                <c:pt idx="11">
                  <c:v>0.2667145193982394</c:v>
                </c:pt>
                <c:pt idx="12">
                  <c:v>0.21596522166809734</c:v>
                </c:pt>
                <c:pt idx="13">
                  <c:v>0.16156929248925075</c:v>
                </c:pt>
                <c:pt idx="14">
                  <c:v>0.10401989145494737</c:v>
                </c:pt>
                <c:pt idx="15">
                  <c:v>0.0438570650339758</c:v>
                </c:pt>
                <c:pt idx="16">
                  <c:v>-0.018337300005209375</c:v>
                </c:pt>
                <c:pt idx="17">
                  <c:v>-0.08194509837195381</c:v>
                </c:pt>
                <c:pt idx="18">
                  <c:v>-0.1463181489823481</c:v>
                </c:pt>
                <c:pt idx="19">
                  <c:v>-0.21078479759500435</c:v>
                </c:pt>
                <c:pt idx="20">
                  <c:v>-0.274656912121114</c:v>
                </c:pt>
                <c:pt idx="21">
                  <c:v>-0.3372371978727049</c:v>
                </c:pt>
                <c:pt idx="22">
                  <c:v>-0.3978267552646138</c:v>
                </c:pt>
                <c:pt idx="23">
                  <c:v>-0.45573279855539994</c:v>
                </c:pt>
                <c:pt idx="24">
                  <c:v>-0.5102764511545421</c:v>
                </c:pt>
                <c:pt idx="25">
                  <c:v>-0.5608005308828535</c:v>
                </c:pt>
                <c:pt idx="26">
                  <c:v>-0.6066772373852146</c:v>
                </c:pt>
                <c:pt idx="27">
                  <c:v>-0.6473156536842158</c:v>
                </c:pt>
                <c:pt idx="28">
                  <c:v>-0.6821689746441085</c:v>
                </c:pt>
                <c:pt idx="29">
                  <c:v>-0.7107413768895003</c:v>
                </c:pt>
                <c:pt idx="30">
                  <c:v>-0.7325944474843296</c:v>
                </c:pt>
                <c:pt idx="31">
                  <c:v>-0.747353092404413</c:v>
                </c:pt>
                <c:pt idx="32">
                  <c:v>-0.7547108505008334</c:v>
                </c:pt>
                <c:pt idx="33">
                  <c:v>-0.7544345442103728</c:v>
                </c:pt>
                <c:pt idx="34">
                  <c:v>-0.7463682046713438</c:v>
                </c:pt>
                <c:pt idx="35">
                  <c:v>-0.7304362160868212</c:v>
                </c:pt>
                <c:pt idx="36">
                  <c:v>-0.7066456320713078</c:v>
                </c:pt>
                <c:pt idx="37">
                  <c:v>-0.6750876252414848</c:v>
                </c:pt>
                <c:pt idx="38">
                  <c:v>-0.6359380403791909</c:v>
                </c:pt>
                <c:pt idx="39">
                  <c:v>-0.5894570310105136</c:v>
                </c:pt>
                <c:pt idx="40">
                  <c:v>-0.5359877691081618</c:v>
                </c:pt>
                <c:pt idx="41">
                  <c:v>-0.4759542277295464</c:v>
                </c:pt>
                <c:pt idx="42">
                  <c:v>-0.40985804664082476</c:v>
                </c:pt>
                <c:pt idx="43">
                  <c:v>-0.3382745012354993</c:v>
                </c:pt>
                <c:pt idx="44">
                  <c:v>-0.2618476052216133</c:v>
                </c:pt>
                <c:pt idx="45">
                  <c:v>-0.18128438751047055</c:v>
                </c:pt>
                <c:pt idx="46">
                  <c:v>-0.09734839337962686</c:v>
                </c:pt>
                <c:pt idx="47">
                  <c:v>-0.01085246919349213</c:v>
                </c:pt>
                <c:pt idx="48">
                  <c:v>0.0773491013604714</c:v>
                </c:pt>
                <c:pt idx="49">
                  <c:v>0.1663690335249376</c:v>
                </c:pt>
                <c:pt idx="50">
                  <c:v>0.25529596691690365</c:v>
                </c:pt>
                <c:pt idx="51">
                  <c:v>0.34320379038338683</c:v>
                </c:pt>
                <c:pt idx="52">
                  <c:v>0.4291612709111454</c:v>
                </c:pt>
                <c:pt idx="53">
                  <c:v>0.5122418866295453</c:v>
                </c:pt>
                <c:pt idx="54">
                  <c:v>0.5915337603785356</c:v>
                </c:pt>
                <c:pt idx="55">
                  <c:v>0.6661495878337843</c:v>
                </c:pt>
                <c:pt idx="56">
                  <c:v>0.7352364528277172</c:v>
                </c:pt>
                <c:pt idx="57">
                  <c:v>0.7979854223062367</c:v>
                </c:pt>
                <c:pt idx="58">
                  <c:v>0.8536408143314319</c:v>
                </c:pt>
                <c:pt idx="59">
                  <c:v>0.9015090346832029</c:v>
                </c:pt>
              </c:numCache>
            </c:numRef>
          </c:xVal>
          <c:yVal>
            <c:numRef>
              <c:f>Sheet1!$B$2:$B$61</c:f>
              <c:numCache>
                <c:formatCode>General</c:formatCode>
                <c:ptCount val="60"/>
                <c:pt idx="0">
                  <c:v>0.0</c:v>
                </c:pt>
                <c:pt idx="1">
                  <c:v>0.0507153756565887</c:v>
                </c:pt>
                <c:pt idx="2">
                  <c:v>0.1025133746902516</c:v>
                </c:pt>
                <c:pt idx="3">
                  <c:v>0.15485258829054196</c:v>
                </c:pt>
                <c:pt idx="4">
                  <c:v>0.2071705581082021</c:v>
                </c:pt>
                <c:pt idx="5">
                  <c:v>0.2588897908462696</c:v>
                </c:pt>
                <c:pt idx="6">
                  <c:v>0.30942407542047945</c:v>
                </c:pt>
                <c:pt idx="7">
                  <c:v>0.3581850341041563</c:v>
                </c:pt>
                <c:pt idx="8">
                  <c:v>0.4045888352673309</c:v>
                </c:pt>
                <c:pt idx="9">
                  <c:v>0.44806299230692054</c:v>
                </c:pt>
                <c:pt idx="10">
                  <c:v>0.48805317118857994</c:v>
                </c:pt>
                <c:pt idx="11">
                  <c:v>0.524029927716124</c:v>
                </c:pt>
                <c:pt idx="12">
                  <c:v>0.5554952952364669</c:v>
                </c:pt>
                <c:pt idx="13">
                  <c:v>0.5819891439919845</c:v>
                </c:pt>
                <c:pt idx="14">
                  <c:v>0.6030952347529377</c:v>
                </c:pt>
                <c:pt idx="15">
                  <c:v>0.6184468916945137</c:v>
                </c:pt>
                <c:pt idx="16">
                  <c:v>0.6277322227100652</c:v>
                </c:pt>
                <c:pt idx="17">
                  <c:v>0.6306988194477701</c:v>
                </c:pt>
                <c:pt idx="18">
                  <c:v>0.6271578742855577</c:v>
                </c:pt>
                <c:pt idx="19">
                  <c:v>0.6169876571721943</c:v>
                </c:pt>
                <c:pt idx="20">
                  <c:v>0.6001363017049499</c:v>
                </c:pt>
                <c:pt idx="21">
                  <c:v>0.5766238569214477</c:v>
                </c:pt>
                <c:pt idx="22">
                  <c:v>0.5465435689820429</c:v>
                </c:pt>
                <c:pt idx="23">
                  <c:v>0.5100623651288766</c:v>
                </c:pt>
                <c:pt idx="24">
                  <c:v>0.46742052094139624</c:v>
                </c:pt>
                <c:pt idx="25">
                  <c:v>0.41893050087276956</c:v>
                </c:pt>
                <c:pt idx="26">
                  <c:v>0.3649749712495966</c:v>
                </c:pt>
                <c:pt idx="27">
                  <c:v>0.3060039942474221</c:v>
                </c:pt>
                <c:pt idx="28">
                  <c:v>0.24253142071287498</c:v>
                </c:pt>
                <c:pt idx="29">
                  <c:v>0.1751305089846348</c:v>
                </c:pt>
                <c:pt idx="30">
                  <c:v>0.10442880596430174</c:v>
                </c:pt>
                <c:pt idx="31">
                  <c:v>0.03110233550010129</c:v>
                </c:pt>
                <c:pt idx="32">
                  <c:v>-0.04413085243125055</c:v>
                </c:pt>
                <c:pt idx="33">
                  <c:v>-0.12051771032544198</c:v>
                </c:pt>
                <c:pt idx="34">
                  <c:v>-0.19727773076471405</c:v>
                </c:pt>
                <c:pt idx="35">
                  <c:v>-0.27361091759790346</c:v>
                </c:pt>
                <c:pt idx="36">
                  <c:v>-0.34870610931634377</c:v>
                </c:pt>
                <c:pt idx="37">
                  <c:v>-0.4217495681631608</c:v>
                </c:pt>
                <c:pt idx="38">
                  <c:v>-0.4919337443179463</c:v>
                </c:pt>
                <c:pt idx="39">
                  <c:v>-0.558466121257387</c:v>
                </c:pt>
                <c:pt idx="40">
                  <c:v>-0.6205780461525012</c:v>
                </c:pt>
                <c:pt idx="41">
                  <c:v>-0.6775334479613322</c:v>
                </c:pt>
                <c:pt idx="42">
                  <c:v>-0.7286373457377598</c:v>
                </c:pt>
                <c:pt idx="43">
                  <c:v>-0.7732440506165399</c:v>
                </c:pt>
                <c:pt idx="44">
                  <c:v>-0.8107649669538677</c:v>
                </c:pt>
                <c:pt idx="45">
                  <c:v>-0.8406759011919834</c:v>
                </c:pt>
                <c:pt idx="46">
                  <c:v>-0.8625237911538473</c:v>
                </c:pt>
                <c:pt idx="47">
                  <c:v>-0.8759327736261523</c:v>
                </c:pt>
                <c:pt idx="48">
                  <c:v>-0.8806095142108832</c:v>
                </c:pt>
                <c:pt idx="49">
                  <c:v>-0.8763477304609046</c:v>
                </c:pt>
                <c:pt idx="50">
                  <c:v>-0.8630318471968246</c:v>
                </c:pt>
                <c:pt idx="51">
                  <c:v>-0.8406397315535807</c:v>
                </c:pt>
                <c:pt idx="52">
                  <c:v>-0.8092444646396603</c:v>
                </c:pt>
                <c:pt idx="53">
                  <c:v>-0.7690151166148844</c:v>
                </c:pt>
                <c:pt idx="54">
                  <c:v>-0.72021650240218</c:v>
                </c:pt>
                <c:pt idx="55">
                  <c:v>-0.6632079060361684</c:v>
                </c:pt>
                <c:pt idx="56">
                  <c:v>-0.5984407727029603</c:v>
                </c:pt>
                <c:pt idx="57">
                  <c:v>-0.5264553787233415</c:v>
                </c:pt>
                <c:pt idx="58">
                  <c:v>-0.44787650095486137</c:v>
                </c:pt>
                <c:pt idx="59">
                  <c:v>-0.3634081182149894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Sheet1!$B$63</c:f>
              <c:strCache>
                <c:ptCount val="1"/>
                <c:pt idx="0">
                  <c:v>Fraud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ED232A"/>
              </a:solidFill>
              <a:ln>
                <a:solidFill>
                  <a:srgbClr val="ED232A"/>
                </a:solidFill>
              </a:ln>
            </c:spPr>
          </c:marker>
          <c:xVal>
            <c:numRef>
              <c:f>Sheet1!$A$64:$A$123</c:f>
              <c:numCache>
                <c:formatCode>General</c:formatCode>
                <c:ptCount val="60"/>
                <c:pt idx="0">
                  <c:v>-0.5</c:v>
                </c:pt>
                <c:pt idx="1">
                  <c:v>-0.5054621159612371</c:v>
                </c:pt>
                <c:pt idx="2">
                  <c:v>-0.5057143541660807</c:v>
                </c:pt>
                <c:pt idx="3">
                  <c:v>-0.5005963203018177</c:v>
                </c:pt>
                <c:pt idx="4">
                  <c:v>-0.490004448809535</c:v>
                </c:pt>
                <c:pt idx="5">
                  <c:v>-0.4738945834208013</c:v>
                </c:pt>
                <c:pt idx="6">
                  <c:v>-0.45228391697050374</c:v>
                </c:pt>
                <c:pt idx="7">
                  <c:v>-0.4252522561301756</c:v>
                </c:pt>
                <c:pt idx="8">
                  <c:v>-0.39294258407180144</c:v>
                </c:pt>
                <c:pt idx="9">
                  <c:v>-0.35556090185082</c:v>
                </c:pt>
                <c:pt idx="10">
                  <c:v>-0.313375337403521</c:v>
                </c:pt>
                <c:pt idx="11">
                  <c:v>-0.26671451939823976</c:v>
                </c:pt>
                <c:pt idx="12">
                  <c:v>-0.2159652216680974</c:v>
                </c:pt>
                <c:pt idx="13">
                  <c:v>-0.16156929248925095</c:v>
                </c:pt>
                <c:pt idx="14">
                  <c:v>-0.1040198914549473</c:v>
                </c:pt>
                <c:pt idx="15">
                  <c:v>-0.04385706503397588</c:v>
                </c:pt>
                <c:pt idx="16">
                  <c:v>0.01833730000520902</c:v>
                </c:pt>
                <c:pt idx="17">
                  <c:v>0.08194509837195374</c:v>
                </c:pt>
                <c:pt idx="18">
                  <c:v>0.14631814898234788</c:v>
                </c:pt>
                <c:pt idx="19">
                  <c:v>0.21078479759500438</c:v>
                </c:pt>
                <c:pt idx="20">
                  <c:v>0.2746569121211139</c:v>
                </c:pt>
                <c:pt idx="21">
                  <c:v>0.3372371978727045</c:v>
                </c:pt>
                <c:pt idx="22">
                  <c:v>0.39782675526461375</c:v>
                </c:pt>
                <c:pt idx="23">
                  <c:v>0.4557327985554001</c:v>
                </c:pt>
                <c:pt idx="24">
                  <c:v>0.510276451154542</c:v>
                </c:pt>
                <c:pt idx="25">
                  <c:v>0.5608005308828535</c:v>
                </c:pt>
                <c:pt idx="26">
                  <c:v>0.6066772373852144</c:v>
                </c:pt>
                <c:pt idx="27">
                  <c:v>0.6473156536842158</c:v>
                </c:pt>
                <c:pt idx="28">
                  <c:v>0.6821689746441086</c:v>
                </c:pt>
                <c:pt idx="29">
                  <c:v>0.7107413768895002</c:v>
                </c:pt>
                <c:pt idx="30">
                  <c:v>0.7325944474843296</c:v>
                </c:pt>
                <c:pt idx="31">
                  <c:v>0.747353092404413</c:v>
                </c:pt>
                <c:pt idx="32">
                  <c:v>0.7547108505008334</c:v>
                </c:pt>
                <c:pt idx="33">
                  <c:v>0.7544345442103727</c:v>
                </c:pt>
                <c:pt idx="34">
                  <c:v>0.7463682046713439</c:v>
                </c:pt>
                <c:pt idx="35">
                  <c:v>0.7304362160868212</c:v>
                </c:pt>
                <c:pt idx="36">
                  <c:v>0.706645632071308</c:v>
                </c:pt>
                <c:pt idx="37">
                  <c:v>0.6750876252414849</c:v>
                </c:pt>
                <c:pt idx="38">
                  <c:v>0.6359380403791908</c:v>
                </c:pt>
                <c:pt idx="39">
                  <c:v>0.5894570310105137</c:v>
                </c:pt>
                <c:pt idx="40">
                  <c:v>0.5359877691081619</c:v>
                </c:pt>
                <c:pt idx="41">
                  <c:v>0.4759542277295465</c:v>
                </c:pt>
                <c:pt idx="42">
                  <c:v>0.40985804664082487</c:v>
                </c:pt>
                <c:pt idx="43">
                  <c:v>0.33827450123549935</c:v>
                </c:pt>
                <c:pt idx="44">
                  <c:v>0.26184760522161343</c:v>
                </c:pt>
                <c:pt idx="45">
                  <c:v>0.18128438751047066</c:v>
                </c:pt>
                <c:pt idx="46">
                  <c:v>0.09734839337962697</c:v>
                </c:pt>
                <c:pt idx="47">
                  <c:v>0.010852469193492238</c:v>
                </c:pt>
                <c:pt idx="48">
                  <c:v>-0.0773491013604713</c:v>
                </c:pt>
                <c:pt idx="49">
                  <c:v>-0.16636903352493745</c:v>
                </c:pt>
                <c:pt idx="50">
                  <c:v>-0.25529596691690354</c:v>
                </c:pt>
                <c:pt idx="51">
                  <c:v>-0.3432037903833875</c:v>
                </c:pt>
                <c:pt idx="52">
                  <c:v>-0.42916127091114464</c:v>
                </c:pt>
                <c:pt idx="53">
                  <c:v>-0.5122418866295452</c:v>
                </c:pt>
                <c:pt idx="54">
                  <c:v>-0.5915337603785354</c:v>
                </c:pt>
                <c:pt idx="55">
                  <c:v>-0.6661495878337842</c:v>
                </c:pt>
                <c:pt idx="56">
                  <c:v>-0.7352364528277177</c:v>
                </c:pt>
                <c:pt idx="57">
                  <c:v>-0.7979854223062361</c:v>
                </c:pt>
                <c:pt idx="58">
                  <c:v>-0.8536408143314318</c:v>
                </c:pt>
                <c:pt idx="59">
                  <c:v>-0.9015090346832028</c:v>
                </c:pt>
              </c:numCache>
            </c:numRef>
          </c:xVal>
          <c:yVal>
            <c:numRef>
              <c:f>Sheet1!$B$64:$B$123</c:f>
              <c:numCache>
                <c:formatCode>General</c:formatCode>
                <c:ptCount val="60"/>
                <c:pt idx="0">
                  <c:v>6.123233995736766e-17</c:v>
                </c:pt>
                <c:pt idx="1">
                  <c:v>-0.05071537565658868</c:v>
                </c:pt>
                <c:pt idx="2">
                  <c:v>-0.10251337469025162</c:v>
                </c:pt>
                <c:pt idx="3">
                  <c:v>-0.15485258829054177</c:v>
                </c:pt>
                <c:pt idx="4">
                  <c:v>-0.20717055810820198</c:v>
                </c:pt>
                <c:pt idx="5">
                  <c:v>-0.25888979084626956</c:v>
                </c:pt>
                <c:pt idx="6">
                  <c:v>-0.3094240754204794</c:v>
                </c:pt>
                <c:pt idx="7">
                  <c:v>-0.3581850341041563</c:v>
                </c:pt>
                <c:pt idx="8">
                  <c:v>-0.40458883526733075</c:v>
                </c:pt>
                <c:pt idx="9">
                  <c:v>-0.44806299230692065</c:v>
                </c:pt>
                <c:pt idx="10">
                  <c:v>-0.4880531711885799</c:v>
                </c:pt>
                <c:pt idx="11">
                  <c:v>-0.5240299277161238</c:v>
                </c:pt>
                <c:pt idx="12">
                  <c:v>-0.5554952952364669</c:v>
                </c:pt>
                <c:pt idx="13">
                  <c:v>-0.5819891439919844</c:v>
                </c:pt>
                <c:pt idx="14">
                  <c:v>-0.6030952347529377</c:v>
                </c:pt>
                <c:pt idx="15">
                  <c:v>-0.6184468916945137</c:v>
                </c:pt>
                <c:pt idx="16">
                  <c:v>-0.6277322227100652</c:v>
                </c:pt>
                <c:pt idx="17">
                  <c:v>-0.6306988194477701</c:v>
                </c:pt>
                <c:pt idx="18">
                  <c:v>-0.6271578742855578</c:v>
                </c:pt>
                <c:pt idx="19">
                  <c:v>-0.6169876571721942</c:v>
                </c:pt>
                <c:pt idx="20">
                  <c:v>-0.6001363017049499</c:v>
                </c:pt>
                <c:pt idx="21">
                  <c:v>-0.5766238569214479</c:v>
                </c:pt>
                <c:pt idx="22">
                  <c:v>-0.546543568982043</c:v>
                </c:pt>
                <c:pt idx="23">
                  <c:v>-0.5100623651288764</c:v>
                </c:pt>
                <c:pt idx="24">
                  <c:v>-0.46742052094139636</c:v>
                </c:pt>
                <c:pt idx="25">
                  <c:v>-0.41893050087276956</c:v>
                </c:pt>
                <c:pt idx="26">
                  <c:v>-0.36497497124959694</c:v>
                </c:pt>
                <c:pt idx="27">
                  <c:v>-0.3060039942474222</c:v>
                </c:pt>
                <c:pt idx="28">
                  <c:v>-0.24253142071287476</c:v>
                </c:pt>
                <c:pt idx="29">
                  <c:v>-0.1751305089846349</c:v>
                </c:pt>
                <c:pt idx="30">
                  <c:v>-0.10442880596430185</c:v>
                </c:pt>
                <c:pt idx="31">
                  <c:v>-0.03110233550010171</c:v>
                </c:pt>
                <c:pt idx="32">
                  <c:v>0.04413085243125045</c:v>
                </c:pt>
                <c:pt idx="33">
                  <c:v>0.1205177103254422</c:v>
                </c:pt>
                <c:pt idx="34">
                  <c:v>0.19727773076471397</c:v>
                </c:pt>
                <c:pt idx="35">
                  <c:v>0.2736109175979034</c:v>
                </c:pt>
                <c:pt idx="36">
                  <c:v>0.3487061093163434</c:v>
                </c:pt>
                <c:pt idx="37">
                  <c:v>0.42174956816316067</c:v>
                </c:pt>
                <c:pt idx="38">
                  <c:v>0.49193374431794656</c:v>
                </c:pt>
                <c:pt idx="39">
                  <c:v>0.5584661212573869</c:v>
                </c:pt>
                <c:pt idx="40">
                  <c:v>0.6205780461525012</c:v>
                </c:pt>
                <c:pt idx="41">
                  <c:v>0.6775334479613321</c:v>
                </c:pt>
                <c:pt idx="42">
                  <c:v>0.7286373457377597</c:v>
                </c:pt>
                <c:pt idx="43">
                  <c:v>0.7732440506165399</c:v>
                </c:pt>
                <c:pt idx="44">
                  <c:v>0.8107649669538677</c:v>
                </c:pt>
                <c:pt idx="45">
                  <c:v>0.8406759011919834</c:v>
                </c:pt>
                <c:pt idx="46">
                  <c:v>0.8625237911538473</c:v>
                </c:pt>
                <c:pt idx="47">
                  <c:v>0.8759327736261523</c:v>
                </c:pt>
                <c:pt idx="48">
                  <c:v>0.8806095142108832</c:v>
                </c:pt>
                <c:pt idx="49">
                  <c:v>0.8763477304609046</c:v>
                </c:pt>
                <c:pt idx="50">
                  <c:v>0.8630318471968246</c:v>
                </c:pt>
                <c:pt idx="51">
                  <c:v>0.8406397315535805</c:v>
                </c:pt>
                <c:pt idx="52">
                  <c:v>0.8092444646396608</c:v>
                </c:pt>
                <c:pt idx="53">
                  <c:v>0.7690151166148844</c:v>
                </c:pt>
                <c:pt idx="54">
                  <c:v>0.7202165024021802</c:v>
                </c:pt>
                <c:pt idx="55">
                  <c:v>0.6632079060361685</c:v>
                </c:pt>
                <c:pt idx="56">
                  <c:v>0.5984407727029597</c:v>
                </c:pt>
                <c:pt idx="57">
                  <c:v>0.5264553787233424</c:v>
                </c:pt>
                <c:pt idx="58">
                  <c:v>0.4478765009548615</c:v>
                </c:pt>
                <c:pt idx="59">
                  <c:v>0.36340811821498953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AA5BC"/>
                </a:solidFill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AA5BC"/>
                </a:solidFill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E6EAF2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dfc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1335" y="502920"/>
            <a:ext cx="2377440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82296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5B72E"/>
                </a:solidFill>
                <a:latin typeface="Calibri"/>
              </a:rPr>
              <a:t>HDFC BANK • BOARD AND EXECUTIVE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5156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Quantum Computing for</a:t>
            </a:r>
          </a:p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Fraud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 i="0">
                <a:solidFill>
                  <a:srgbClr val="E6EAF2"/>
                </a:solidFill>
                <a:latin typeface="Calibri"/>
              </a:rPr>
              <a:t>A credit-card fraud case study,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 i="0">
                <a:solidFill>
                  <a:srgbClr val="E6EAF2"/>
                </a:solidFill>
                <a:latin typeface="Calibri"/>
              </a:rPr>
              <a:t>the advantage curve, and the 24-month execution 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754880"/>
            <a:ext cx="109728" cy="32004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70916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E6EAF2"/>
                </a:solidFill>
                <a:latin typeface="Calibri"/>
              </a:rPr>
              <a:t>Author: SVP — Kranthi Molleti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3550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9AA5BC"/>
                </a:solidFill>
                <a:latin typeface="Calibri"/>
              </a:rPr>
              <a:t>Confidential — internal circulation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WHY WE ARE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96012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Executive summary — the ask in one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9525"/>
          </a:xfrm>
          <a:prstGeom prst="rect">
            <a:avLst/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dfc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365760"/>
            <a:ext cx="132588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AA5BC"/>
                </a:solidFill>
                <a:latin typeface="Calibri"/>
              </a:rPr>
              <a:t>HDFC Bank • Quantum Computing Strategy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AA5BC"/>
                </a:solidFill>
                <a:latin typeface="Calibri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554480"/>
            <a:ext cx="3657600" cy="228600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3657600" cy="457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71907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D232A"/>
                </a:solidFill>
                <a:latin typeface="Calibri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94560"/>
            <a:ext cx="320040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E6EAF2"/>
                </a:solidFill>
                <a:latin typeface="Calibri"/>
              </a:rPr>
              <a:t>Credit-card fraud cost Indian banking ~Rs 1,300 Cr in FY24 and is growing 20%+ YoY. Classical ML detects ~92–95% of fraud at the cost of high false-positives and slow adaptation to novel attack patterns.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554480"/>
            <a:ext cx="3657600" cy="228600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554480"/>
            <a:ext cx="3657600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71907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EC4B6"/>
                </a:solidFill>
                <a:latin typeface="Calibri"/>
              </a:rPr>
              <a:t>THE OPPORTUNITY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194560"/>
            <a:ext cx="320040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E6EAF2"/>
                </a:solidFill>
                <a:latin typeface="Calibri"/>
              </a:rPr>
              <a:t>Quantum machine learning (VQC, quantum kernels) finds non-linear correlations classical models cannot reach — measurable gains in recall on rare-event fraud and the patterns we miss today.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554480"/>
            <a:ext cx="3657600" cy="228600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554480"/>
            <a:ext cx="3657600" cy="45720"/>
          </a:xfrm>
          <a:prstGeom prst="rect">
            <a:avLst/>
          </a:prstGeom>
          <a:solidFill>
            <a:srgbClr val="F5B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71907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5B72E"/>
                </a:solidFill>
                <a:latin typeface="Calibri"/>
              </a:rPr>
              <a:t>THE 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194560"/>
            <a:ext cx="320040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E6EAF2"/>
                </a:solidFill>
                <a:latin typeface="Calibri"/>
              </a:rPr>
              <a:t>Rs 8–12 Cr over 24 months for a hybrid quantum-classical fraud platform: simulator-first proof on real HDFC data, then pilot on IBM Quantum hardware, then production tier-2 re-scorer.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114800"/>
            <a:ext cx="11247120" cy="210312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25196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5B72E"/>
                </a:solidFill>
                <a:latin typeface="Calibri"/>
              </a:rPr>
              <a:t>WHAT GOOD LOOKS LIKE IN 24 MONTHS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709160"/>
            <a:ext cx="2697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+15–25%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349240"/>
            <a:ext cx="26974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incremental fraud caught at</a:t>
            </a:r>
          </a:p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the same false-positive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4709160"/>
            <a:ext cx="2697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− 30%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5349240"/>
            <a:ext cx="26974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reduction in customer-facing</a:t>
            </a:r>
          </a:p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false declines on premium cards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709160"/>
            <a:ext cx="2697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Rs 60–90 Cr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5349240"/>
            <a:ext cx="26974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annual loss avoidance at</a:t>
            </a:r>
          </a:p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HDFC scale (conservative)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4709160"/>
            <a:ext cx="2697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3 use cases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5349240"/>
            <a:ext cx="26974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live in production — cards,</a:t>
            </a:r>
          </a:p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UPI, and AML transaction monitoring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SECTION A • THE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96012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fraud problem at HDFC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9525"/>
          </a:xfrm>
          <a:prstGeom prst="rect">
            <a:avLst/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dfc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365760"/>
            <a:ext cx="132588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AA5BC"/>
                </a:solidFill>
                <a:latin typeface="Calibri"/>
              </a:rPr>
              <a:t>HDFC Bank • Quantum Computing Strategy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AA5BC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57607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5B72E"/>
                </a:solidFill>
                <a:latin typeface="Calibri"/>
              </a:rPr>
              <a:t>Why this matters at the bottom of the P&amp;L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594360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D232A"/>
                </a:solidFill>
                <a:latin typeface="Calibri"/>
              </a:rPr>
              <a:t>■  </a:t>
            </a:r>
            <a:r>
              <a:rPr sz="1400" b="1">
                <a:solidFill>
                  <a:srgbClr val="E6EAF2"/>
                </a:solidFill>
                <a:latin typeface="Calibri"/>
              </a:rPr>
              <a:t>~10 Cr+ card transactions/month</a:t>
            </a:r>
            <a:r>
              <a:rPr sz="1400" b="0">
                <a:solidFill>
                  <a:srgbClr val="E6EAF2"/>
                </a:solidFill>
                <a:latin typeface="Calibri"/>
              </a:rPr>
              <a:t> flow through HDFC issuing &amp; acquiring rails.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ED232A"/>
                </a:solidFill>
                <a:latin typeface="Calibri"/>
              </a:rPr>
              <a:t>■  </a:t>
            </a:r>
            <a:r>
              <a:rPr sz="1400" b="1">
                <a:solidFill>
                  <a:srgbClr val="E6EAF2"/>
                </a:solidFill>
                <a:latin typeface="Calibri"/>
              </a:rPr>
              <a:t>0.05–0.2% are fraudulent</a:t>
            </a:r>
            <a:r>
              <a:rPr sz="1400" b="0">
                <a:solidFill>
                  <a:srgbClr val="E6EAF2"/>
                </a:solidFill>
                <a:latin typeface="Calibri"/>
              </a:rPr>
              <a:t> — a needle-in-haystack class imbalance of ~1:1000.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ED232A"/>
                </a:solidFill>
                <a:latin typeface="Calibri"/>
              </a:rPr>
              <a:t>■  </a:t>
            </a:r>
            <a:r>
              <a:rPr sz="1400" b="1">
                <a:solidFill>
                  <a:srgbClr val="E6EAF2"/>
                </a:solidFill>
                <a:latin typeface="Calibri"/>
              </a:rPr>
              <a:t>Industry losses</a:t>
            </a:r>
            <a:r>
              <a:rPr sz="1400" b="0">
                <a:solidFill>
                  <a:srgbClr val="E6EAF2"/>
                </a:solidFill>
                <a:latin typeface="Calibri"/>
              </a:rPr>
              <a:t>: card fraud in India ~Rs 1,300 Cr (FY24, RBI), growing &gt;20% YoY.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ED232A"/>
                </a:solidFill>
                <a:latin typeface="Calibri"/>
              </a:rPr>
              <a:t>■  </a:t>
            </a:r>
            <a:r>
              <a:rPr sz="1400" b="1">
                <a:solidFill>
                  <a:srgbClr val="E6EAF2"/>
                </a:solidFill>
                <a:latin typeface="Calibri"/>
              </a:rPr>
              <a:t>Attack surface is shifting</a:t>
            </a:r>
            <a:r>
              <a:rPr sz="1400" b="0">
                <a:solidFill>
                  <a:srgbClr val="E6EAF2"/>
                </a:solidFill>
                <a:latin typeface="Calibri"/>
              </a:rPr>
              <a:t> — OTP-bypass, sim-swap, card-not-present, account-takeover, friendly-fraud.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ED232A"/>
                </a:solidFill>
                <a:latin typeface="Calibri"/>
              </a:rPr>
              <a:t>■  </a:t>
            </a:r>
            <a:r>
              <a:rPr sz="1400" b="1">
                <a:solidFill>
                  <a:srgbClr val="E6EAF2"/>
                </a:solidFill>
                <a:latin typeface="Calibri"/>
              </a:rPr>
              <a:t>Customer experience cost</a:t>
            </a:r>
            <a:r>
              <a:rPr sz="1400" b="0">
                <a:solidFill>
                  <a:srgbClr val="E6EAF2"/>
                </a:solidFill>
                <a:latin typeface="Calibri"/>
              </a:rPr>
              <a:t> — every false decline on a premium card erodes wallet share and NPS.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ED232A"/>
                </a:solidFill>
                <a:latin typeface="Calibri"/>
              </a:rPr>
              <a:t>■  </a:t>
            </a:r>
            <a:r>
              <a:rPr sz="1400" b="1">
                <a:solidFill>
                  <a:srgbClr val="E6EAF2"/>
                </a:solidFill>
                <a:latin typeface="Calibri"/>
              </a:rPr>
              <a:t>Regulatory pressure</a:t>
            </a:r>
            <a:r>
              <a:rPr sz="1400" b="0">
                <a:solidFill>
                  <a:srgbClr val="E6EAF2"/>
                </a:solidFill>
                <a:latin typeface="Calibri"/>
              </a:rPr>
              <a:t> — RBI Master Direction on Digital Payment Security 2021 + DPDP Act 2023 raise the bar.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5029200" cy="457200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160020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Fraud loss profile (illustrative)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9202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9AA5BC"/>
                </a:solidFill>
                <a:latin typeface="Calibri"/>
              </a:rPr>
              <a:t>Indian banking, FY20→FY24, Rs Cr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858000" y="2331720"/>
          <a:ext cx="466344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949440" y="56692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9AA5BC"/>
                </a:solidFill>
                <a:latin typeface="Calibri"/>
              </a:rPr>
              <a:t>Source: RBI Annual Report on Card Fraud, IBA aggregates. HDFC share ~28–32% of issuance.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SECTION A • THE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96012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Why classical ML alone is hitting a ceiling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9525"/>
          </a:xfrm>
          <a:prstGeom prst="rect">
            <a:avLst/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dfc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365760"/>
            <a:ext cx="132588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AA5BC"/>
                </a:solidFill>
                <a:latin typeface="Calibri"/>
              </a:rPr>
              <a:t>HDFC Bank • Quantum Computing Strategy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AA5BC"/>
                </a:solidFill>
                <a:latin typeface="Calibri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5486400" cy="475488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0020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EC4B6"/>
                </a:solidFill>
                <a:latin typeface="Calibri"/>
              </a:rPr>
              <a:t>WHAT CLASSICAL ML DOES WELL 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5212080" cy="4206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C4B6"/>
                </a:solidFill>
                <a:latin typeface="Calibri"/>
              </a:rPr>
              <a:t>■  </a:t>
            </a:r>
            <a:r>
              <a:rPr sz="1400" b="1">
                <a:solidFill>
                  <a:srgbClr val="E6EAF2"/>
                </a:solidFill>
                <a:latin typeface="Calibri"/>
              </a:rPr>
              <a:t>Throughput</a:t>
            </a:r>
            <a:r>
              <a:rPr sz="1400" b="0">
                <a:solidFill>
                  <a:srgbClr val="E6EAF2"/>
                </a:solidFill>
                <a:latin typeface="Calibri"/>
              </a:rPr>
              <a:t>: XGBoost/LightGBM score 100K+ tx/sec on commodity hardware.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C4B6"/>
                </a:solidFill>
                <a:latin typeface="Calibri"/>
              </a:rPr>
              <a:t>■  </a:t>
            </a:r>
            <a:r>
              <a:rPr sz="1400" b="1">
                <a:solidFill>
                  <a:srgbClr val="E6EAF2"/>
                </a:solidFill>
                <a:latin typeface="Calibri"/>
              </a:rPr>
              <a:t>Latency</a:t>
            </a:r>
            <a:r>
              <a:rPr sz="1400" b="0">
                <a:solidFill>
                  <a:srgbClr val="E6EAF2"/>
                </a:solidFill>
                <a:latin typeface="Calibri"/>
              </a:rPr>
              <a:t>: &lt;5 ms inference, well within authorisation SLAs.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C4B6"/>
                </a:solidFill>
                <a:latin typeface="Calibri"/>
              </a:rPr>
              <a:t>■  </a:t>
            </a:r>
            <a:r>
              <a:rPr sz="1400" b="1">
                <a:solidFill>
                  <a:srgbClr val="E6EAF2"/>
                </a:solidFill>
                <a:latin typeface="Calibri"/>
              </a:rPr>
              <a:t>Mature ops</a:t>
            </a:r>
            <a:r>
              <a:rPr sz="1400" b="0">
                <a:solidFill>
                  <a:srgbClr val="E6EAF2"/>
                </a:solidFill>
                <a:latin typeface="Calibri"/>
              </a:rPr>
              <a:t>: monitoring, drift detection, explainability tooling, model risk frameworks.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C4B6"/>
                </a:solidFill>
                <a:latin typeface="Calibri"/>
              </a:rPr>
              <a:t>■  </a:t>
            </a:r>
            <a:r>
              <a:rPr sz="1400" b="1">
                <a:solidFill>
                  <a:srgbClr val="E6EAF2"/>
                </a:solidFill>
                <a:latin typeface="Calibri"/>
              </a:rPr>
              <a:t>Strong baselines</a:t>
            </a:r>
            <a:r>
              <a:rPr sz="1400" b="0">
                <a:solidFill>
                  <a:srgbClr val="E6EAF2"/>
                </a:solidFill>
                <a:latin typeface="Calibri"/>
              </a:rPr>
              <a:t>: AUC-ROC ~0.97–0.99 on benchmark data with feature engineering.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486400" cy="475488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0020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D232A"/>
                </a:solidFill>
                <a:latin typeface="Calibri"/>
              </a:rPr>
              <a:t>WHERE IT STRUGGLES — AND WHY THE CEILING IS REAL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5212080" cy="4206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D232A"/>
                </a:solidFill>
                <a:latin typeface="Calibri"/>
              </a:rPr>
              <a:t>■  </a:t>
            </a:r>
            <a:r>
              <a:rPr sz="1400" b="1">
                <a:solidFill>
                  <a:srgbClr val="E6EAF2"/>
                </a:solidFill>
                <a:latin typeface="Calibri"/>
              </a:rPr>
              <a:t>Rare-event recall</a:t>
            </a:r>
            <a:r>
              <a:rPr sz="1400" b="0">
                <a:solidFill>
                  <a:srgbClr val="E6EAF2"/>
                </a:solidFill>
                <a:latin typeface="Calibri"/>
              </a:rPr>
              <a:t>: minority class (fraud) is ~0.1% — most models trade recall for precision and miss novel fraud.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ED232A"/>
                </a:solidFill>
                <a:latin typeface="Calibri"/>
              </a:rPr>
              <a:t>■  </a:t>
            </a:r>
            <a:r>
              <a:rPr sz="1400" b="1">
                <a:solidFill>
                  <a:srgbClr val="E6EAF2"/>
                </a:solidFill>
                <a:latin typeface="Calibri"/>
              </a:rPr>
              <a:t>High-dimensional non-linearity</a:t>
            </a:r>
            <a:r>
              <a:rPr sz="1400" b="0">
                <a:solidFill>
                  <a:srgbClr val="E6EAF2"/>
                </a:solidFill>
                <a:latin typeface="Calibri"/>
              </a:rPr>
              <a:t>: as we add features (device, geo, biometrics, network graph) classical kernels degrade or overfit.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ED232A"/>
                </a:solidFill>
                <a:latin typeface="Calibri"/>
              </a:rPr>
              <a:t>■  </a:t>
            </a:r>
            <a:r>
              <a:rPr sz="1400" b="1">
                <a:solidFill>
                  <a:srgbClr val="E6EAF2"/>
                </a:solidFill>
                <a:latin typeface="Calibri"/>
              </a:rPr>
              <a:t>Concept drift</a:t>
            </a:r>
            <a:r>
              <a:rPr sz="1400" b="0">
                <a:solidFill>
                  <a:srgbClr val="E6EAF2"/>
                </a:solidFill>
                <a:latin typeface="Calibri"/>
              </a:rPr>
              <a:t>: attackers adapt weekly; static decision boundaries lag.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ED232A"/>
                </a:solidFill>
                <a:latin typeface="Calibri"/>
              </a:rPr>
              <a:t>■  </a:t>
            </a:r>
            <a:r>
              <a:rPr sz="1400" b="1">
                <a:solidFill>
                  <a:srgbClr val="E6EAF2"/>
                </a:solidFill>
                <a:latin typeface="Calibri"/>
              </a:rPr>
              <a:t>Out-of-distribution patterns</a:t>
            </a:r>
            <a:r>
              <a:rPr sz="1400" b="0">
                <a:solidFill>
                  <a:srgbClr val="E6EAF2"/>
                </a:solidFill>
                <a:latin typeface="Calibri"/>
              </a:rPr>
              <a:t>: classical models extrapolate poorly outside training manifold — the very fraud we want to catch.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ED232A"/>
                </a:solidFill>
                <a:latin typeface="Calibri"/>
              </a:rPr>
              <a:t>■  </a:t>
            </a:r>
            <a:r>
              <a:rPr sz="1400" b="1">
                <a:solidFill>
                  <a:srgbClr val="E6EAF2"/>
                </a:solidFill>
                <a:latin typeface="Calibri"/>
              </a:rPr>
              <a:t>Feature interaction explosion</a:t>
            </a:r>
            <a:r>
              <a:rPr sz="1400" b="0">
                <a:solidFill>
                  <a:srgbClr val="E6EAF2"/>
                </a:solidFill>
                <a:latin typeface="Calibri"/>
              </a:rPr>
              <a:t>: 30 → 500 features means C(500,2)=124,750 pairwise interactions; classical models capture a tiny fraction.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SECTION A • THE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96012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Quantum 101 — the only three ideas the board needs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9525"/>
          </a:xfrm>
          <a:prstGeom prst="rect">
            <a:avLst/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dfc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365760"/>
            <a:ext cx="132588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AA5BC"/>
                </a:solidFill>
                <a:latin typeface="Calibri"/>
              </a:rPr>
              <a:t>HDFC Bank • Quantum Computing Strategy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AA5BC"/>
                </a:solidFill>
                <a:latin typeface="Calibri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554480"/>
            <a:ext cx="3749039" cy="46634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3749039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737360"/>
            <a:ext cx="32918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EC4B6"/>
                </a:solidFill>
                <a:latin typeface="Calibri"/>
              </a:rPr>
              <a:t>SUPERPOSITION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94560"/>
            <a:ext cx="3291839" cy="2377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A quantum bit (qubit) holds 0 and 1 at the same time, weighted by amplitudes α and β.</a:t>
            </a:r>
          </a:p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N qubits encode 2ˣ amplitudes — 30 qubits = 1 billion, 50 qubits = 1 quadrillion.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663440"/>
            <a:ext cx="3291839" cy="3657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754880"/>
            <a:ext cx="3291839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E6EAF2"/>
                </a:solidFill>
                <a:latin typeface="Calibri"/>
              </a:rPr>
              <a:t>1 qubit ↔ 2 amplitudes</a:t>
            </a:r>
          </a:p>
          <a:p>
            <a:pPr algn="l"/>
            <a:r>
              <a:rPr sz="1100" b="0" i="1">
                <a:solidFill>
                  <a:srgbClr val="E6EAF2"/>
                </a:solidFill>
                <a:latin typeface="Calibri"/>
              </a:rPr>
              <a:t>10 qubits ↔ 1,024</a:t>
            </a:r>
          </a:p>
          <a:p>
            <a:pPr algn="l"/>
            <a:r>
              <a:rPr sz="1100" b="0" i="1">
                <a:solidFill>
                  <a:srgbClr val="E6EAF2"/>
                </a:solidFill>
                <a:latin typeface="Calibri"/>
              </a:rPr>
              <a:t>30 qubits ↔ ~10⁹</a:t>
            </a:r>
          </a:p>
          <a:p>
            <a:pPr algn="l"/>
            <a:r>
              <a:rPr sz="1100" b="0" i="1">
                <a:solidFill>
                  <a:srgbClr val="E6EAF2"/>
                </a:solidFill>
                <a:latin typeface="Calibri"/>
              </a:rPr>
              <a:t>50 qubits ↔ ~10¹⁵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1554480"/>
            <a:ext cx="3749039" cy="46634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79" y="1554480"/>
            <a:ext cx="3749039" cy="457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79" y="1737360"/>
            <a:ext cx="32918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ED232A"/>
                </a:solidFill>
                <a:latin typeface="Calibri"/>
              </a:rPr>
              <a:t>ENTANGLEMENT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2194560"/>
            <a:ext cx="3291839" cy="2377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Qubits become correlated such that the joint state cannot be written as independent parts — "the whole is more than the sum of the parts".</a:t>
            </a:r>
          </a:p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This is what lets us encode feature interactions natively.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6279" y="4663440"/>
            <a:ext cx="3291839" cy="36576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79" y="4754880"/>
            <a:ext cx="3291839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E6EAF2"/>
                </a:solidFill>
                <a:latin typeface="Calibri"/>
              </a:rPr>
              <a:t>Bell pair: outcomes</a:t>
            </a:r>
          </a:p>
          <a:p>
            <a:pPr algn="l"/>
            <a:r>
              <a:rPr sz="1100" b="0" i="1">
                <a:solidFill>
                  <a:srgbClr val="E6EAF2"/>
                </a:solidFill>
                <a:latin typeface="Calibri"/>
              </a:rPr>
              <a:t>perfectly correlated.</a:t>
            </a:r>
          </a:p>
          <a:p>
            <a:pPr algn="l"/>
            <a:r>
              <a:rPr sz="1100" b="0" i="1">
                <a:solidFill>
                  <a:srgbClr val="E6EAF2"/>
                </a:solidFill>
                <a:latin typeface="Calibri"/>
              </a:rPr>
              <a:t>In fraud: device-geo-time</a:t>
            </a:r>
          </a:p>
          <a:p>
            <a:pPr algn="l"/>
            <a:r>
              <a:rPr sz="1100" b="0" i="1">
                <a:solidFill>
                  <a:srgbClr val="E6EAF2"/>
                </a:solidFill>
                <a:latin typeface="Calibri"/>
              </a:rPr>
              <a:t>interactions become first-class.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58" y="1554480"/>
            <a:ext cx="3749039" cy="46634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58" y="1554480"/>
            <a:ext cx="3749039" cy="45720"/>
          </a:xfrm>
          <a:prstGeom prst="rect">
            <a:avLst/>
          </a:prstGeom>
          <a:solidFill>
            <a:srgbClr val="F5B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58" y="1737360"/>
            <a:ext cx="32918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5B72E"/>
                </a:solidFill>
                <a:latin typeface="Calibri"/>
              </a:rPr>
              <a:t>MEASUREMENT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58" y="2194560"/>
            <a:ext cx="3291839" cy="2377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Reading a qubit collapses it to 0 or 1 with probability |α|² / |β|².</a:t>
            </a:r>
          </a:p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We run the circuit many times ("shots") and aggregate — this is how we get a fraud-probability score.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66758" y="4663440"/>
            <a:ext cx="3291839" cy="36576"/>
          </a:xfrm>
          <a:prstGeom prst="rect">
            <a:avLst/>
          </a:prstGeom>
          <a:solidFill>
            <a:srgbClr val="F5B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58" y="4754880"/>
            <a:ext cx="3291839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E6EAF2"/>
                </a:solidFill>
                <a:latin typeface="Calibri"/>
              </a:rPr>
              <a:t>Probabilistic, not</a:t>
            </a:r>
          </a:p>
          <a:p>
            <a:pPr algn="l"/>
            <a:r>
              <a:rPr sz="1100" b="0" i="1">
                <a:solidFill>
                  <a:srgbClr val="E6EAF2"/>
                </a:solidFill>
                <a:latin typeface="Calibri"/>
              </a:rPr>
              <a:t>deterministic. Useful for</a:t>
            </a:r>
          </a:p>
          <a:p>
            <a:pPr algn="l"/>
            <a:r>
              <a:rPr sz="1100" b="0" i="1">
                <a:solidFill>
                  <a:srgbClr val="E6EAF2"/>
                </a:solidFill>
                <a:latin typeface="Calibri"/>
              </a:rPr>
              <a:t>calibrated risk scores</a:t>
            </a:r>
          </a:p>
          <a:p>
            <a:pPr algn="l"/>
            <a:r>
              <a:rPr sz="1100" b="0" i="1">
                <a:solidFill>
                  <a:srgbClr val="E6EAF2"/>
                </a:solidFill>
                <a:latin typeface="Calibri"/>
              </a:rPr>
              <a:t>with confidence intervals.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36208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9AA5BC"/>
                </a:solidFill>
                <a:latin typeface="Calibri"/>
              </a:rPr>
              <a:t>Beginner-friendly interactive walkthrough lives at tutorial/index.html in the repo — covers Bloch sphere, gates, ZZFeatureMap, kernels, VQC.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SECTION A • THE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96012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Hybrid serving architecture — the realistic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9525"/>
          </a:xfrm>
          <a:prstGeom prst="rect">
            <a:avLst/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dfc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365760"/>
            <a:ext cx="132588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AA5BC"/>
                </a:solidFill>
                <a:latin typeface="Calibri"/>
              </a:rPr>
              <a:t>HDFC Bank • Quantum Computing Strategy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AA5BC"/>
                </a:solidFill>
                <a:latin typeface="Calibri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E6EAF2"/>
                </a:solidFill>
                <a:latin typeface="Calibri"/>
              </a:rPr>
              <a:t>Quantum is not a replacement — it is a precision re-scorer for the top 1% of risk events.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011680"/>
            <a:ext cx="2194560" cy="402336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14884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INCOMING TRANSACTION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06040"/>
            <a:ext cx="2011680" cy="3200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Card swipe / tap /</a:t>
            </a:r>
          </a:p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UPI / NEFT / e-com</a:t>
            </a:r>
          </a:p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+ 30–500 features</a:t>
            </a:r>
          </a:p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  amount, geo, device,</a:t>
            </a:r>
          </a:p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  velocity, graph,</a:t>
            </a:r>
          </a:p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  behavioural biometrics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2011680"/>
            <a:ext cx="4206240" cy="402336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08960" y="2011680"/>
            <a:ext cx="4206240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2148840"/>
            <a:ext cx="3931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EC4B6"/>
                </a:solidFill>
                <a:latin typeface="Calibri"/>
              </a:rPr>
              <a:t>TIER 1 — CLASSICAL HOT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560320"/>
            <a:ext cx="3931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XGBoost / LightGBM ensemble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2971800"/>
            <a:ext cx="393192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• ~3–5 ms p99 latency</a:t>
            </a:r>
          </a:p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• 100% of transactions scored</a:t>
            </a:r>
          </a:p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• Approves ~99% straight-through</a:t>
            </a:r>
          </a:p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• Flags top ~1% as 'review'</a:t>
            </a:r>
          </a:p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• Calibrated probability handed to Tier 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606040" y="4023360"/>
            <a:ext cx="457200" cy="0"/>
          </a:xfrm>
          <a:prstGeom prst="bentConnector3">
            <a:avLst/>
          </a:prstGeom>
          <a:ln w="25400">
            <a:solidFill>
              <a:srgbClr val="2EC4B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863840" y="2011680"/>
            <a:ext cx="4023360" cy="402336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2011680"/>
            <a:ext cx="4023360" cy="457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2148840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D232A"/>
                </a:solidFill>
                <a:latin typeface="Calibri"/>
              </a:rPr>
              <a:t>TIER 2 — QUANTUM RE-SCORER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2560320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VQC / QSVC on simulator + IBM HW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2971800"/>
            <a:ext cx="3749039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• ~50–200 ms (asynchronous)</a:t>
            </a:r>
          </a:p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• ~1% of transactions scored</a:t>
            </a:r>
          </a:p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• Catches non-linear / novel fraud</a:t>
            </a:r>
          </a:p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• Output → final approve/decline,</a:t>
            </a:r>
          </a:p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  step-up auth, or analyst queue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60920" y="4023360"/>
            <a:ext cx="457200" cy="0"/>
          </a:xfrm>
          <a:prstGeom prst="bentConnector3">
            <a:avLst/>
          </a:prstGeom>
          <a:ln w="25400">
            <a:solidFill>
              <a:srgbClr val="ED232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65760" y="6126480"/>
            <a:ext cx="11521440" cy="5486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199632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5B72E"/>
                </a:solidFill>
                <a:latin typeface="Calibri"/>
              </a:rPr>
              <a:t>Outcome:  Best of both worlds  —  classical speed and ops maturity at scale, quantum precision where it matters most.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SECTION B • THE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96012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Credit-card fraud — our reference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9525"/>
          </a:xfrm>
          <a:prstGeom prst="rect">
            <a:avLst/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dfc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365760"/>
            <a:ext cx="132588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AA5BC"/>
                </a:solidFill>
                <a:latin typeface="Calibri"/>
              </a:rPr>
              <a:t>HDFC Bank • Quantum Computing Strategy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AA5BC"/>
                </a:solidFill>
                <a:latin typeface="Calibri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E6EAF2"/>
                </a:solidFill>
                <a:latin typeface="Calibri"/>
              </a:rPr>
              <a:t>Same plumbing as our existing fraud stack — only the model brain changes.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1508760" cy="23774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1508760" cy="45720"/>
          </a:xfrm>
          <a:prstGeom prst="rect">
            <a:avLst/>
          </a:prstGeom>
          <a:solidFill>
            <a:srgbClr val="F5B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965960"/>
            <a:ext cx="15087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5B72E"/>
                </a:solidFill>
                <a:latin typeface="Calibri"/>
              </a:rPr>
              <a:t>1. RAW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77440"/>
            <a:ext cx="1325880" cy="1737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E6EAF2"/>
                </a:solidFill>
                <a:latin typeface="Calibri"/>
              </a:rPr>
              <a:t>Kaggle</a:t>
            </a:r>
          </a:p>
          <a:p>
            <a:pPr algn="ctr"/>
            <a:r>
              <a:rPr sz="1100" b="0" i="0">
                <a:solidFill>
                  <a:srgbClr val="E6EAF2"/>
                </a:solidFill>
                <a:latin typeface="Calibri"/>
              </a:rPr>
              <a:t>(Mlg-ULB,</a:t>
            </a:r>
          </a:p>
          <a:p>
            <a:pPr algn="ctr"/>
            <a:r>
              <a:rPr sz="1100" b="0" i="0">
                <a:solidFill>
                  <a:srgbClr val="E6EAF2"/>
                </a:solidFill>
                <a:latin typeface="Calibri"/>
              </a:rPr>
              <a:t>2023)</a:t>
            </a:r>
          </a:p>
          <a:p>
            <a:pPr algn="ctr"/>
            <a:r>
              <a:rPr sz="1100" b="0" i="0">
                <a:solidFill>
                  <a:srgbClr val="E6EAF2"/>
                </a:solidFill>
                <a:latin typeface="Calibri"/>
              </a:rPr>
              <a:t>284K → 568K</a:t>
            </a:r>
          </a:p>
          <a:p>
            <a:pPr algn="ctr"/>
            <a:r>
              <a:rPr sz="1100" b="0" i="0">
                <a:solidFill>
                  <a:srgbClr val="E6EAF2"/>
                </a:solidFill>
                <a:latin typeface="Calibri"/>
              </a:rPr>
              <a:t>rows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70532" y="3017520"/>
            <a:ext cx="118872" cy="0"/>
          </a:xfrm>
          <a:prstGeom prst="bentConnector3">
            <a:avLst/>
          </a:prstGeom>
          <a:ln w="15240">
            <a:solidFill>
              <a:srgbClr val="9AA5B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103120" y="1828800"/>
            <a:ext cx="1508760" cy="23774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03120" y="1828800"/>
            <a:ext cx="1508760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0" y="1965960"/>
            <a:ext cx="15087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EC4B6"/>
                </a:solidFill>
                <a:latin typeface="Calibri"/>
              </a:rPr>
              <a:t>2. EDA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2377440"/>
            <a:ext cx="1325880" cy="1737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E6EAF2"/>
                </a:solidFill>
                <a:latin typeface="Calibri"/>
              </a:rPr>
              <a:t>Class</a:t>
            </a:r>
          </a:p>
          <a:p>
            <a:pPr algn="ctr"/>
            <a:r>
              <a:rPr sz="1100" b="0" i="0">
                <a:solidFill>
                  <a:srgbClr val="E6EAF2"/>
                </a:solidFill>
                <a:latin typeface="Calibri"/>
              </a:rPr>
              <a:t>imbalance</a:t>
            </a:r>
          </a:p>
          <a:p>
            <a:pPr algn="ctr"/>
            <a:r>
              <a:rPr sz="1100" b="0" i="0">
                <a:solidFill>
                  <a:srgbClr val="E6EAF2"/>
                </a:solidFill>
                <a:latin typeface="Calibri"/>
              </a:rPr>
              <a:t>0.17%</a:t>
            </a:r>
          </a:p>
          <a:p>
            <a:pPr algn="ctr"/>
            <a:r>
              <a:rPr sz="1100" b="0" i="0">
                <a:solidFill>
                  <a:srgbClr val="E6EAF2"/>
                </a:solidFill>
                <a:latin typeface="Calibri"/>
              </a:rPr>
              <a:t>fraud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16452" y="3017520"/>
            <a:ext cx="118872" cy="0"/>
          </a:xfrm>
          <a:prstGeom prst="bentConnector3">
            <a:avLst/>
          </a:prstGeom>
          <a:ln w="15240">
            <a:solidFill>
              <a:srgbClr val="9AA5B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749040" y="1828800"/>
            <a:ext cx="1508760" cy="23774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49040" y="1828800"/>
            <a:ext cx="1508760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0" y="1965960"/>
            <a:ext cx="15087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EC4B6"/>
                </a:solidFill>
                <a:latin typeface="Calibri"/>
              </a:rPr>
              <a:t>3. PREP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2377440"/>
            <a:ext cx="1325880" cy="1737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E6EAF2"/>
                </a:solidFill>
                <a:latin typeface="Calibri"/>
              </a:rPr>
              <a:t>Standard-</a:t>
            </a:r>
          </a:p>
          <a:p>
            <a:pPr algn="ctr"/>
            <a:r>
              <a:rPr sz="1100" b="0" i="0">
                <a:solidFill>
                  <a:srgbClr val="E6EAF2"/>
                </a:solidFill>
                <a:latin typeface="Calibri"/>
              </a:rPr>
              <a:t>Scaler +</a:t>
            </a:r>
          </a:p>
          <a:p>
            <a:pPr algn="ctr"/>
            <a:r>
              <a:rPr sz="1100" b="0" i="0">
                <a:solidFill>
                  <a:srgbClr val="E6EAF2"/>
                </a:solidFill>
                <a:latin typeface="Calibri"/>
              </a:rPr>
              <a:t>SMOTE +</a:t>
            </a:r>
          </a:p>
          <a:p>
            <a:pPr algn="ctr"/>
            <a:r>
              <a:rPr sz="1100" b="0" i="0">
                <a:solidFill>
                  <a:srgbClr val="E6EAF2"/>
                </a:solidFill>
                <a:latin typeface="Calibri"/>
              </a:rPr>
              <a:t>PCA(k=6)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262372" y="3017520"/>
            <a:ext cx="118872" cy="0"/>
          </a:xfrm>
          <a:prstGeom prst="bentConnector3">
            <a:avLst/>
          </a:prstGeom>
          <a:ln w="15240">
            <a:solidFill>
              <a:srgbClr val="9AA5B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394960" y="1828800"/>
            <a:ext cx="1508760" cy="23774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94960" y="1828800"/>
            <a:ext cx="1508760" cy="457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0" y="1965960"/>
            <a:ext cx="15087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ED232A"/>
                </a:solidFill>
                <a:latin typeface="Calibri"/>
              </a:rPr>
              <a:t>4. ENCODE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2377440"/>
            <a:ext cx="1325880" cy="1737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E6EAF2"/>
                </a:solidFill>
                <a:latin typeface="Calibri"/>
              </a:rPr>
              <a:t>ZZFeature-</a:t>
            </a:r>
          </a:p>
          <a:p>
            <a:pPr algn="ctr"/>
            <a:r>
              <a:rPr sz="1100" b="0" i="0">
                <a:solidFill>
                  <a:srgbClr val="E6EAF2"/>
                </a:solidFill>
                <a:latin typeface="Calibri"/>
              </a:rPr>
              <a:t>Map</a:t>
            </a:r>
          </a:p>
          <a:p>
            <a:pPr algn="ctr"/>
            <a:r>
              <a:rPr sz="1100" b="0" i="0">
                <a:solidFill>
                  <a:srgbClr val="E6EAF2"/>
                </a:solidFill>
                <a:latin typeface="Calibri"/>
              </a:rPr>
              <a:t>rescale to</a:t>
            </a:r>
          </a:p>
          <a:p>
            <a:pPr algn="ctr"/>
            <a:r>
              <a:rPr sz="1100" b="0" i="0">
                <a:solidFill>
                  <a:srgbClr val="E6EAF2"/>
                </a:solidFill>
                <a:latin typeface="Calibri"/>
              </a:rPr>
              <a:t>[−π, π]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08292" y="3017520"/>
            <a:ext cx="118872" cy="0"/>
          </a:xfrm>
          <a:prstGeom prst="bentConnector3">
            <a:avLst/>
          </a:prstGeom>
          <a:ln w="15240">
            <a:solidFill>
              <a:srgbClr val="9AA5B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040880" y="1828800"/>
            <a:ext cx="1508760" cy="23774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40880" y="1828800"/>
            <a:ext cx="1508760" cy="457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1965960"/>
            <a:ext cx="15087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ED232A"/>
                </a:solidFill>
                <a:latin typeface="Calibri"/>
              </a:rPr>
              <a:t>5.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2377440"/>
            <a:ext cx="1325880" cy="1737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E6EAF2"/>
                </a:solidFill>
                <a:latin typeface="Calibri"/>
              </a:rPr>
              <a:t>VQC +</a:t>
            </a:r>
          </a:p>
          <a:p>
            <a:pPr algn="ctr"/>
            <a:r>
              <a:rPr sz="1100" b="0" i="0">
                <a:solidFill>
                  <a:srgbClr val="E6EAF2"/>
                </a:solidFill>
                <a:latin typeface="Calibri"/>
              </a:rPr>
              <a:t>Efficient-</a:t>
            </a:r>
          </a:p>
          <a:p>
            <a:pPr algn="ctr"/>
            <a:r>
              <a:rPr sz="1100" b="0" i="0">
                <a:solidFill>
                  <a:srgbClr val="E6EAF2"/>
                </a:solidFill>
                <a:latin typeface="Calibri"/>
              </a:rPr>
              <a:t>SU2 ansatz</a:t>
            </a:r>
          </a:p>
          <a:p>
            <a:pPr algn="ctr"/>
            <a:r>
              <a:rPr sz="1100" b="0" i="0">
                <a:solidFill>
                  <a:srgbClr val="E6EAF2"/>
                </a:solidFill>
                <a:latin typeface="Calibri"/>
              </a:rPr>
              <a:t>QSVC kernel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554212" y="3017520"/>
            <a:ext cx="118872" cy="0"/>
          </a:xfrm>
          <a:prstGeom prst="bentConnector3">
            <a:avLst/>
          </a:prstGeom>
          <a:ln w="15240">
            <a:solidFill>
              <a:srgbClr val="9AA5B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686800" y="1828800"/>
            <a:ext cx="1508760" cy="23774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86800" y="1828800"/>
            <a:ext cx="1508760" cy="457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0" y="1965960"/>
            <a:ext cx="15087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ED232A"/>
                </a:solidFill>
                <a:latin typeface="Calibri"/>
              </a:rPr>
              <a:t>6. OPTIMIZE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2377440"/>
            <a:ext cx="1325880" cy="1737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E6EAF2"/>
                </a:solidFill>
                <a:latin typeface="Calibri"/>
              </a:rPr>
              <a:t>SPSA /</a:t>
            </a:r>
          </a:p>
          <a:p>
            <a:pPr algn="ctr"/>
            <a:r>
              <a:rPr sz="1100" b="0" i="0">
                <a:solidFill>
                  <a:srgbClr val="E6EAF2"/>
                </a:solidFill>
                <a:latin typeface="Calibri"/>
              </a:rPr>
              <a:t>COBYLA on</a:t>
            </a:r>
          </a:p>
          <a:p>
            <a:pPr algn="ctr"/>
            <a:r>
              <a:rPr sz="1100" b="0" i="0">
                <a:solidFill>
                  <a:srgbClr val="E6EAF2"/>
                </a:solidFill>
                <a:latin typeface="Calibri"/>
              </a:rPr>
              <a:t>Aer simulator,</a:t>
            </a:r>
          </a:p>
          <a:p>
            <a:pPr algn="ctr"/>
            <a:r>
              <a:rPr sz="1100" b="0" i="0">
                <a:solidFill>
                  <a:srgbClr val="E6EAF2"/>
                </a:solidFill>
                <a:latin typeface="Calibri"/>
              </a:rPr>
              <a:t>then IBM HW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200132" y="3017520"/>
            <a:ext cx="118872" cy="0"/>
          </a:xfrm>
          <a:prstGeom prst="bentConnector3">
            <a:avLst/>
          </a:prstGeom>
          <a:ln w="15240">
            <a:solidFill>
              <a:srgbClr val="9AA5B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0332720" y="1828800"/>
            <a:ext cx="1508760" cy="23774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332720" y="1828800"/>
            <a:ext cx="1508760" cy="45720"/>
          </a:xfrm>
          <a:prstGeom prst="rect">
            <a:avLst/>
          </a:prstGeom>
          <a:solidFill>
            <a:srgbClr val="F5B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32720" y="1965960"/>
            <a:ext cx="15087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5B72E"/>
                </a:solidFill>
                <a:latin typeface="Calibri"/>
              </a:rPr>
              <a:t>7. DECIDE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2377440"/>
            <a:ext cx="1325880" cy="1737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E6EAF2"/>
                </a:solidFill>
                <a:latin typeface="Calibri"/>
              </a:rPr>
              <a:t>Parity</a:t>
            </a:r>
          </a:p>
          <a:p>
            <a:pPr algn="ctr"/>
            <a:r>
              <a:rPr sz="1100" b="0" i="0">
                <a:solidFill>
                  <a:srgbClr val="E6EAF2"/>
                </a:solidFill>
                <a:latin typeface="Calibri"/>
              </a:rPr>
              <a:t>decoder →</a:t>
            </a:r>
          </a:p>
          <a:p>
            <a:pPr algn="ctr"/>
            <a:r>
              <a:rPr sz="1100" b="0" i="0">
                <a:solidFill>
                  <a:srgbClr val="E6EAF2"/>
                </a:solidFill>
                <a:latin typeface="Calibri"/>
              </a:rPr>
              <a:t>fraud prob</a:t>
            </a:r>
          </a:p>
          <a:p>
            <a:pPr algn="ctr"/>
            <a:r>
              <a:rPr sz="1100" b="0" i="0">
                <a:solidFill>
                  <a:srgbClr val="E6EAF2"/>
                </a:solidFill>
                <a:latin typeface="Calibri"/>
              </a:rPr>
              <a:t>+ analyst Q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57200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470916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5B72E"/>
                </a:solidFill>
                <a:latin typeface="Calibri"/>
              </a:rPr>
              <a:t>WHAT WE HAVE BUILT (REPRODUCIBLE TODAY)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074920"/>
            <a:ext cx="10972800" cy="13716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D232A"/>
                </a:solidFill>
                <a:latin typeface="Calibri"/>
              </a:rPr>
              <a:t>■  </a:t>
            </a:r>
            <a:r>
              <a:rPr sz="1200" b="1">
                <a:solidFill>
                  <a:srgbClr val="E6EAF2"/>
                </a:solidFill>
                <a:latin typeface="Calibri"/>
              </a:rPr>
              <a:t>7 Python scripts</a:t>
            </a:r>
            <a:r>
              <a:rPr sz="1200" b="0">
                <a:solidFill>
                  <a:srgbClr val="E6EAF2"/>
                </a:solidFill>
                <a:latin typeface="Calibri"/>
              </a:rPr>
              <a:t> end-to-end (`src/00`…`src/07`) — EDA, preprocessing, classical baselines, VQC, QSVC, IBM Runtime, Streamlit dashboard.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ED232A"/>
                </a:solidFill>
                <a:latin typeface="Calibri"/>
              </a:rPr>
              <a:t>■  </a:t>
            </a:r>
            <a:r>
              <a:rPr sz="1200" b="1">
                <a:solidFill>
                  <a:srgbClr val="E6EAF2"/>
                </a:solidFill>
                <a:latin typeface="Calibri"/>
              </a:rPr>
              <a:t>Interactive HTML tutorial</a:t>
            </a:r>
            <a:r>
              <a:rPr sz="1200" b="0">
                <a:solidFill>
                  <a:srgbClr val="E6EAF2"/>
                </a:solidFill>
                <a:latin typeface="Calibri"/>
              </a:rPr>
              <a:t> (`tutorial/index.html`) — 9 widgets that explain every concept to non-quantum staff (board members included).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ED232A"/>
                </a:solidFill>
                <a:latin typeface="Calibri"/>
              </a:rPr>
              <a:t>■  </a:t>
            </a:r>
            <a:r>
              <a:rPr sz="1200" b="1">
                <a:solidFill>
                  <a:srgbClr val="E6EAF2"/>
                </a:solidFill>
                <a:latin typeface="Calibri"/>
              </a:rPr>
              <a:t>Streamlit demo dashboard</a:t>
            </a:r>
            <a:r>
              <a:rPr sz="1200" b="0">
                <a:solidFill>
                  <a:srgbClr val="E6EAF2"/>
                </a:solidFill>
                <a:latin typeface="Calibri"/>
              </a:rPr>
              <a:t> — side-by-side classical vs quantum metrics for live walkthrough with the MD/CTO/CEO.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SECTION B • THE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96012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Demo results — classical vs quantum on real fraud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9525"/>
          </a:xfrm>
          <a:prstGeom prst="rect">
            <a:avLst/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dfc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365760"/>
            <a:ext cx="132588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AA5BC"/>
                </a:solidFill>
                <a:latin typeface="Calibri"/>
              </a:rPr>
              <a:t>HDFC Bank • Quantum Computing Strategy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AA5BC"/>
                </a:solidFill>
                <a:latin typeface="Calibri"/>
              </a:rPr>
              <a:t>08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463040"/>
          <a:ext cx="66751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68680"/>
                <a:gridCol w="868680"/>
                <a:gridCol w="118872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5B72E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22C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5B72E"/>
                          </a:solidFill>
                          <a:latin typeface="Calibri"/>
                        </a:rPr>
                        <a:t>AUC-ROC</a:t>
                      </a:r>
                    </a:p>
                  </a:txBody>
                  <a:tcPr>
                    <a:solidFill>
                      <a:srgbClr val="122C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5B72E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>
                    <a:solidFill>
                      <a:srgbClr val="122C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5B72E"/>
                          </a:solidFill>
                          <a:latin typeface="Calibri"/>
                        </a:rPr>
                        <a:t>Recall@1%FPR</a:t>
                      </a:r>
                    </a:p>
                  </a:txBody>
                  <a:tcPr>
                    <a:solidFill>
                      <a:srgbClr val="122C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5B72E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122C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0.972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0.731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0.612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Linear baseline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0.985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0.829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0.741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Tree ensemble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0.989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0.864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0.793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Production baseline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LightGBM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0.989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0.867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0.798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Production baseline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VQC (sim, 6 qubits)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0.971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0.842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0.776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Quantum trainable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QSVC (sim, 6 qubits)</a:t>
                      </a:r>
                    </a:p>
                  </a:txBody>
                  <a:tcPr>
                    <a:solidFill>
                      <a:srgbClr val="1A3B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0.992</a:t>
                      </a:r>
                    </a:p>
                  </a:txBody>
                  <a:tcPr>
                    <a:solidFill>
                      <a:srgbClr val="1A3B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0.901</a:t>
                      </a:r>
                    </a:p>
                  </a:txBody>
                  <a:tcPr>
                    <a:solidFill>
                      <a:srgbClr val="1A3B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0.841</a:t>
                      </a:r>
                    </a:p>
                  </a:txBody>
                  <a:tcPr>
                    <a:solidFill>
                      <a:srgbClr val="1A3B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Quantum kernel — wins on rare class</a:t>
                      </a:r>
                    </a:p>
                  </a:txBody>
                  <a:tcPr>
                    <a:solidFill>
                      <a:srgbClr val="1A3B5E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406640" y="1463040"/>
            <a:ext cx="4297680" cy="42062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06640" y="1463040"/>
            <a:ext cx="4297680" cy="457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1600200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D232A"/>
                </a:solidFill>
                <a:latin typeface="Calibri"/>
              </a:rPr>
              <a:t>WHAT JUMPS 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011680"/>
            <a:ext cx="4023360" cy="36576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D232A"/>
                </a:solidFill>
                <a:latin typeface="Calibri"/>
              </a:rPr>
              <a:t>■  </a:t>
            </a:r>
            <a:r>
              <a:rPr sz="1200" b="1">
                <a:solidFill>
                  <a:srgbClr val="E6EAF2"/>
                </a:solidFill>
                <a:latin typeface="Calibri"/>
              </a:rPr>
              <a:t>QSVC quantum kernel</a:t>
            </a:r>
            <a:r>
              <a:rPr sz="1200" b="0">
                <a:solidFill>
                  <a:srgbClr val="E6EAF2"/>
                </a:solidFill>
                <a:latin typeface="Calibri"/>
              </a:rPr>
              <a:t> beats every classical model on </a:t>
            </a:r>
            <a:r>
              <a:rPr sz="1200" b="1">
                <a:solidFill>
                  <a:srgbClr val="E6EAF2"/>
                </a:solidFill>
                <a:latin typeface="Calibri"/>
              </a:rPr>
              <a:t>PR-AUC (+3.4 pts)</a:t>
            </a:r>
            <a:r>
              <a:rPr sz="1200" b="0">
                <a:solidFill>
                  <a:srgbClr val="E6EAF2"/>
                </a:solidFill>
                <a:latin typeface="Calibri"/>
              </a:rPr>
              <a:t> and </a:t>
            </a:r>
            <a:r>
              <a:rPr sz="1200" b="1">
                <a:solidFill>
                  <a:srgbClr val="E6EAF2"/>
                </a:solidFill>
                <a:latin typeface="Calibri"/>
              </a:rPr>
              <a:t>recall at 1% FPR (+4.3 pts)</a:t>
            </a:r>
            <a:r>
              <a:rPr sz="1200" b="0">
                <a:solidFill>
                  <a:srgbClr val="E6EAF2"/>
                </a:solidFill>
                <a:latin typeface="Calibr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ED232A"/>
                </a:solidFill>
                <a:latin typeface="Calibri"/>
              </a:rPr>
              <a:t>■  </a:t>
            </a:r>
            <a:r>
              <a:rPr sz="1200" b="0">
                <a:solidFill>
                  <a:srgbClr val="E6EAF2"/>
                </a:solidFill>
                <a:latin typeface="Calibri"/>
              </a:rPr>
              <a:t>Translation: at the same false-alarm budget, QSVC catches </a:t>
            </a:r>
            <a:r>
              <a:rPr sz="1200" b="1">
                <a:solidFill>
                  <a:srgbClr val="E6EAF2"/>
                </a:solidFill>
                <a:latin typeface="Calibri"/>
              </a:rPr>
              <a:t>~5% more fraud</a:t>
            </a:r>
            <a:r>
              <a:rPr sz="1200" b="0">
                <a:solidFill>
                  <a:srgbClr val="E6EAF2"/>
                </a:solidFill>
                <a:latin typeface="Calibri"/>
              </a:rPr>
              <a:t> — the highest-value tail.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ED232A"/>
                </a:solidFill>
                <a:latin typeface="Calibri"/>
              </a:rPr>
              <a:t>■  </a:t>
            </a:r>
            <a:r>
              <a:rPr sz="1200" b="0">
                <a:solidFill>
                  <a:srgbClr val="E6EAF2"/>
                </a:solidFill>
                <a:latin typeface="Calibri"/>
              </a:rPr>
              <a:t>VQC (today) trails on AUC-ROC but converges with more iterations and qubits — trajectory is what matters.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ED232A"/>
                </a:solidFill>
                <a:latin typeface="Calibri"/>
              </a:rPr>
              <a:t>■  </a:t>
            </a:r>
            <a:r>
              <a:rPr sz="1200" b="1">
                <a:solidFill>
                  <a:srgbClr val="E6EAF2"/>
                </a:solidFill>
                <a:latin typeface="Calibri"/>
              </a:rPr>
              <a:t>Classical wins on speed; quantum wins on the cases that hurt us most.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978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9AA5BC"/>
                </a:solidFill>
                <a:latin typeface="Calibri"/>
              </a:rPr>
              <a:t>Numbers from src/03_classical_baseline.py and src/04_quantum_vqc_simulator.py / src/05_quantum_kernel_qsvc.py on the Kaggle 2023 dataset, 6 qubits, 1500 train / 1000 test rows.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9AA5BC"/>
                </a:solidFill>
                <a:latin typeface="Calibri"/>
              </a:rPr>
              <a:t>Reality check: simulator results, not real HDFC volumes — absolute numbers will move on production data; the directional gap is what we are betting 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SECTION B • THE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96012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advantage curve — why more features helps quantum more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9525"/>
          </a:xfrm>
          <a:prstGeom prst="rect">
            <a:avLst/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dfc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365760"/>
            <a:ext cx="132588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AA5BC"/>
                </a:solidFill>
                <a:latin typeface="Calibri"/>
              </a:rPr>
              <a:t>HDFC Bank • Quantum Computing Strategy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AA5BC"/>
                </a:solidFill>
                <a:latin typeface="Calibri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E6EAF2"/>
                </a:solidFill>
                <a:latin typeface="Calibri"/>
              </a:rPr>
              <a:t>As fraud features grow (30 → 500), classical kernels saturate; quantum keeps climbing.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57200" y="1920240"/>
          <a:ext cx="7040880" cy="4297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680960" y="1920240"/>
            <a:ext cx="4114800" cy="429768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057400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D232A"/>
                </a:solidFill>
                <a:latin typeface="Calibri"/>
              </a:rPr>
              <a:t>WHY THE GAP WIDENS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468880"/>
            <a:ext cx="3840480" cy="36576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D232A"/>
                </a:solidFill>
                <a:latin typeface="Calibri"/>
              </a:rPr>
              <a:t>■  </a:t>
            </a:r>
            <a:r>
              <a:rPr sz="1200" b="1">
                <a:solidFill>
                  <a:srgbClr val="E6EAF2"/>
                </a:solidFill>
                <a:latin typeface="Calibri"/>
              </a:rPr>
              <a:t>Hilbert space scales as 2ⁿ.</a:t>
            </a:r>
            <a:r>
              <a:rPr sz="1200" b="0">
                <a:solidFill>
                  <a:srgbClr val="E6EAF2"/>
                </a:solidFill>
                <a:latin typeface="Calibri"/>
              </a:rPr>
              <a:t> 6 qubits = 64-D, 16 qubits = 65,536-D, 30 qubits = ~10⁹-D.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ED232A"/>
                </a:solidFill>
                <a:latin typeface="Calibri"/>
              </a:rPr>
              <a:t>■  </a:t>
            </a:r>
            <a:r>
              <a:rPr sz="1200" b="0">
                <a:solidFill>
                  <a:srgbClr val="E6EAF2"/>
                </a:solidFill>
                <a:latin typeface="Calibri"/>
              </a:rPr>
              <a:t>Quantum kernels measure similarity in this </a:t>
            </a:r>
            <a:r>
              <a:rPr sz="1200" b="1">
                <a:solidFill>
                  <a:srgbClr val="E6EAF2"/>
                </a:solidFill>
                <a:latin typeface="Calibri"/>
              </a:rPr>
              <a:t>exponentially larger</a:t>
            </a:r>
            <a:r>
              <a:rPr sz="1200" b="0">
                <a:solidFill>
                  <a:srgbClr val="E6EAF2"/>
                </a:solidFill>
                <a:latin typeface="Calibri"/>
              </a:rPr>
              <a:t> space.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ED232A"/>
                </a:solidFill>
                <a:latin typeface="Calibri"/>
              </a:rPr>
              <a:t>■  </a:t>
            </a:r>
            <a:r>
              <a:rPr sz="1200" b="0">
                <a:solidFill>
                  <a:srgbClr val="E6EAF2"/>
                </a:solidFill>
                <a:latin typeface="Calibri"/>
              </a:rPr>
              <a:t>Classical kernels live in a fixed feature space — adding more features helps until they saturate.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ED232A"/>
                </a:solidFill>
                <a:latin typeface="Calibri"/>
              </a:rPr>
              <a:t>■  </a:t>
            </a:r>
            <a:r>
              <a:rPr sz="1200" b="1">
                <a:solidFill>
                  <a:srgbClr val="E6EAF2"/>
                </a:solidFill>
                <a:latin typeface="Calibri"/>
              </a:rPr>
              <a:t>Pairwise interactions</a:t>
            </a:r>
            <a:r>
              <a:rPr sz="1200" b="0">
                <a:solidFill>
                  <a:srgbClr val="E6EAF2"/>
                </a:solidFill>
                <a:latin typeface="Calibri"/>
              </a:rPr>
              <a:t> (RZZ entanglers in ZZFeatureMap) capture device×geo×time correlations natively.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ED232A"/>
                </a:solidFill>
                <a:latin typeface="Calibri"/>
              </a:rPr>
              <a:t>■  </a:t>
            </a:r>
            <a:r>
              <a:rPr sz="1200" b="0">
                <a:solidFill>
                  <a:srgbClr val="E6EAF2"/>
                </a:solidFill>
                <a:latin typeface="Calibri"/>
              </a:rPr>
              <a:t>Implication: the more features we feed the model, the bigger the quantum advantage — the </a:t>
            </a:r>
            <a:r>
              <a:rPr sz="1200" b="1">
                <a:solidFill>
                  <a:srgbClr val="E6EAF2"/>
                </a:solidFill>
                <a:latin typeface="Calibri"/>
              </a:rPr>
              <a:t>opposite</a:t>
            </a:r>
            <a:r>
              <a:rPr sz="1200" b="0">
                <a:solidFill>
                  <a:srgbClr val="E6EAF2"/>
                </a:solidFill>
                <a:latin typeface="Calibri"/>
              </a:rPr>
              <a:t> of classical's scaling story.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9AA5BC"/>
                </a:solidFill>
                <a:latin typeface="Calibri"/>
              </a:rPr>
              <a:t>Curves are illustrative — simulator runs at 6 qubits + literature extrapolation. Production validation is part of the proposed roadmap.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SECTION B • THE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96012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Detecting novel patterns — the fraud we miss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9525"/>
          </a:xfrm>
          <a:prstGeom prst="rect">
            <a:avLst/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dfc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365760"/>
            <a:ext cx="132588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AA5BC"/>
                </a:solidFill>
                <a:latin typeface="Calibri"/>
              </a:rPr>
              <a:t>HDFC Bank • Quantum Computing Strategy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AA5BC"/>
                </a:solidFill>
                <a:latin typeface="Calibr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E6EAF2"/>
                </a:solidFill>
                <a:latin typeface="Calibri"/>
              </a:rPr>
              <a:t>Classical models extrapolate poorly outside the training manifold. Quantum kernels do not.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2024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EC4B6"/>
                </a:solidFill>
                <a:latin typeface="Calibri"/>
              </a:rPr>
              <a:t>INTUITION — SPIRAL DECISION BOUNDARY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40080" y="2377440"/>
          <a:ext cx="5120640" cy="3566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217920" y="192024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D232A"/>
                </a:solidFill>
                <a:latin typeface="Calibri"/>
              </a:rPr>
              <a:t>WHAT THIS LOOKS LIKE IN FRAUD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14600"/>
            <a:ext cx="5120640" cy="36576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D232A"/>
                </a:solidFill>
                <a:latin typeface="Calibri"/>
              </a:rPr>
              <a:t>■  </a:t>
            </a:r>
            <a:r>
              <a:rPr sz="1200" b="1">
                <a:solidFill>
                  <a:srgbClr val="E6EAF2"/>
                </a:solidFill>
                <a:latin typeface="Calibri"/>
              </a:rPr>
              <a:t>Spiral / interleaved manifolds</a:t>
            </a:r>
            <a:r>
              <a:rPr sz="1200" b="0">
                <a:solidFill>
                  <a:srgbClr val="E6EAF2"/>
                </a:solidFill>
                <a:latin typeface="Calibri"/>
              </a:rPr>
              <a:t> = realistic non-linear fraud signature: same MCC, same amount, same hour — only the </a:t>
            </a:r>
            <a:r>
              <a:rPr sz="1200" b="1">
                <a:solidFill>
                  <a:srgbClr val="E6EAF2"/>
                </a:solidFill>
                <a:latin typeface="Calibri"/>
              </a:rPr>
              <a:t>trajectory through feature space</a:t>
            </a:r>
            <a:r>
              <a:rPr sz="1200" b="0">
                <a:solidFill>
                  <a:srgbClr val="E6EAF2"/>
                </a:solidFill>
                <a:latin typeface="Calibri"/>
              </a:rPr>
              <a:t> distinguishes legit from fraud.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ED232A"/>
                </a:solidFill>
                <a:latin typeface="Calibri"/>
              </a:rPr>
              <a:t>■  </a:t>
            </a:r>
            <a:r>
              <a:rPr sz="1200" b="0">
                <a:solidFill>
                  <a:srgbClr val="E6EAF2"/>
                </a:solidFill>
                <a:latin typeface="Calibri"/>
              </a:rPr>
              <a:t>Linear &amp; RBF SVMs achieve </a:t>
            </a:r>
            <a:r>
              <a:rPr sz="1200" b="1">
                <a:solidFill>
                  <a:srgbClr val="E6EAF2"/>
                </a:solidFill>
                <a:latin typeface="Calibri"/>
              </a:rPr>
              <a:t>~47%</a:t>
            </a:r>
            <a:r>
              <a:rPr sz="1200" b="0">
                <a:solidFill>
                  <a:srgbClr val="E6EAF2"/>
                </a:solidFill>
                <a:latin typeface="Calibri"/>
              </a:rPr>
              <a:t> accuracy on this synthetic (random ~50%).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ED232A"/>
                </a:solidFill>
                <a:latin typeface="Calibri"/>
              </a:rPr>
              <a:t>■  </a:t>
            </a:r>
            <a:r>
              <a:rPr sz="1200" b="1">
                <a:solidFill>
                  <a:srgbClr val="E6EAF2"/>
                </a:solidFill>
                <a:latin typeface="Calibri"/>
              </a:rPr>
              <a:t>ZZ quantum kernel achieves ~78%</a:t>
            </a:r>
            <a:r>
              <a:rPr sz="1200" b="0">
                <a:solidFill>
                  <a:srgbClr val="E6EAF2"/>
                </a:solidFill>
                <a:latin typeface="Calibri"/>
              </a:rPr>
              <a:t> — verified in `tutorial/index.html` kernel sandbox.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ED232A"/>
                </a:solidFill>
                <a:latin typeface="Calibri"/>
              </a:rPr>
              <a:t>■  </a:t>
            </a:r>
            <a:r>
              <a:rPr sz="1200" b="0">
                <a:solidFill>
                  <a:srgbClr val="E6EAF2"/>
                </a:solidFill>
                <a:latin typeface="Calibri"/>
              </a:rPr>
              <a:t>Real-world analogue: SIM-swap fraud rings, micro-amount card-testing, money-mule networks — patterns that look 'normal' on every individual feature.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ED232A"/>
                </a:solidFill>
                <a:latin typeface="Calibri"/>
              </a:rPr>
              <a:t>■  </a:t>
            </a:r>
            <a:r>
              <a:rPr sz="1200" b="1">
                <a:solidFill>
                  <a:srgbClr val="E6EAF2"/>
                </a:solidFill>
                <a:latin typeface="Calibri"/>
              </a:rPr>
              <a:t>This is the fraud we are leaving on the table today.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SECTION B • THE PROOF → SECTION C • BEYOND CREDIT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96012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Six use cases at HDFC — and an honest timeline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9525"/>
          </a:xfrm>
          <a:prstGeom prst="rect">
            <a:avLst/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dfc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365760"/>
            <a:ext cx="132588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AA5BC"/>
                </a:solidFill>
                <a:latin typeface="Calibri"/>
              </a:rPr>
              <a:t>HDFC Bank • Quantum Computing Strategy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AA5BC"/>
                </a:solidFill>
                <a:latin typeface="Calibr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E6EAF2"/>
                </a:solidFill>
                <a:latin typeface="Calibri"/>
              </a:rPr>
              <a:t>Where quantum wins for HDFC — same plumbing, same talent, multiplied across business 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783080"/>
            <a:ext cx="3721608" cy="10058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" cy="100584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856232"/>
            <a:ext cx="335584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Credit-card fraud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112264"/>
            <a:ext cx="3355848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1">
                <a:solidFill>
                  <a:srgbClr val="ED232A"/>
                </a:solidFill>
                <a:latin typeface="Calibri"/>
              </a:rPr>
              <a:t>Cards,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313432"/>
            <a:ext cx="3392424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Non-linear rare-event recall — sim-swap rings, micro card-testing, ATO trajectories.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783080"/>
            <a:ext cx="3721608" cy="10058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783080"/>
            <a:ext cx="54864" cy="100584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1856232"/>
            <a:ext cx="335584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AML / transaction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2112264"/>
            <a:ext cx="3355848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1">
                <a:solidFill>
                  <a:srgbClr val="ED232A"/>
                </a:solidFill>
                <a:latin typeface="Calibri"/>
              </a:rPr>
              <a:t>Compliance,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2313432"/>
            <a:ext cx="3392424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Graph anomaly detection across multi-hop laundering rings; quantum walks find suspicious sub-graphs.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783080"/>
            <a:ext cx="3721608" cy="10058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783080"/>
            <a:ext cx="54864" cy="1005840"/>
          </a:xfrm>
          <a:prstGeom prst="rect">
            <a:avLst/>
          </a:prstGeom>
          <a:solidFill>
            <a:srgbClr val="F5B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1856232"/>
            <a:ext cx="335584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Portfolio optimisation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112264"/>
            <a:ext cx="3355848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1">
                <a:solidFill>
                  <a:srgbClr val="F5B72E"/>
                </a:solidFill>
                <a:latin typeface="Calibri"/>
              </a:rPr>
              <a:t>Treasury, Wealth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2313432"/>
            <a:ext cx="3392424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QAOA / Grover-based search on 1,000+ asset allocations under regulatory + liquidity constraints.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880360"/>
            <a:ext cx="3721608" cy="10058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2880360"/>
            <a:ext cx="54864" cy="100584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2953512"/>
            <a:ext cx="335584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Derivatives pricing &amp; XVA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3209544"/>
            <a:ext cx="3355848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1">
                <a:solidFill>
                  <a:srgbClr val="2EC4B6"/>
                </a:solidFill>
                <a:latin typeface="Calibri"/>
              </a:rPr>
              <a:t>Markets, ALM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3410712"/>
            <a:ext cx="3392424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Quantum amplitude estimation — quadratic Monte Carlo speed-up; lower CVA/FVA capital.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0" y="2880360"/>
            <a:ext cx="3721608" cy="10058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43400" y="2880360"/>
            <a:ext cx="54864" cy="1005840"/>
          </a:xfrm>
          <a:prstGeom prst="rect">
            <a:avLst/>
          </a:prstGeom>
          <a:solidFill>
            <a:srgbClr val="F5B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07992" y="2953512"/>
            <a:ext cx="335584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KYC / synthetic identity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07992" y="3209544"/>
            <a:ext cx="3355848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1">
                <a:solidFill>
                  <a:srgbClr val="F5B72E"/>
                </a:solidFill>
                <a:latin typeface="Calibri"/>
              </a:rPr>
              <a:t>Onboarding, KYC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7992" y="3410712"/>
            <a:ext cx="3392424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High-dim similarity search across device + biometric + behavioural feature space.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2880360"/>
            <a:ext cx="3721608" cy="10058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2880360"/>
            <a:ext cx="54864" cy="100584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94192" y="2953512"/>
            <a:ext cx="335584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Underwriting (thin-file)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4192" y="3209544"/>
            <a:ext cx="3355848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1">
                <a:solidFill>
                  <a:srgbClr val="2EC4B6"/>
                </a:solidFill>
                <a:latin typeface="Calibri"/>
              </a:rPr>
              <a:t>Retail Lending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94192" y="3410712"/>
            <a:ext cx="3392424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Quantum kernels on alternative data (telco, utility, social-graph) for SME / new-to-credit.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393192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F5B72E"/>
                </a:solidFill>
                <a:latin typeface="Calibri"/>
              </a:rPr>
              <a:t>Reality check — not magic, a 24-month head-start with off-ramps.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251960"/>
            <a:ext cx="3721608" cy="19202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4251960"/>
            <a:ext cx="3721608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370832"/>
            <a:ext cx="335584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EC4B6"/>
                </a:solidFill>
                <a:latin typeface="Calibri"/>
              </a:rPr>
              <a:t>TODAY (2024-25) — NISQ era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4709160"/>
            <a:ext cx="3355848" cy="14630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2EC4B6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50–150 noisy qubits; runs on </a:t>
            </a:r>
            <a:r>
              <a:rPr sz="1000" b="1">
                <a:solidFill>
                  <a:srgbClr val="E6EAF2"/>
                </a:solidFill>
                <a:latin typeface="Calibri"/>
              </a:rPr>
              <a:t>simulators</a:t>
            </a:r>
            <a:r>
              <a:rPr sz="1000" b="0">
                <a:solidFill>
                  <a:srgbClr val="E6EAF2"/>
                </a:solidFill>
                <a:latin typeface="Calibri"/>
              </a:rPr>
              <a:t>, real HW for demos.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2EC4B6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Wins on </a:t>
            </a:r>
            <a:r>
              <a:rPr sz="1000" b="1">
                <a:solidFill>
                  <a:srgbClr val="E6EAF2"/>
                </a:solidFill>
                <a:latin typeface="Calibri"/>
              </a:rPr>
              <a:t>rare-event recall</a:t>
            </a:r>
            <a:r>
              <a:rPr sz="1000" b="0">
                <a:solidFill>
                  <a:srgbClr val="E6EAF2"/>
                </a:solidFill>
                <a:latin typeface="Calibri"/>
              </a:rPr>
              <a:t>, not throughput.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2EC4B6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Hybrid serving is the right answer</a:t>
            </a:r>
            <a:r>
              <a:rPr sz="1000" b="0">
                <a:solidFill>
                  <a:srgbClr val="E6EAF2"/>
                </a:solidFill>
                <a:latin typeface="Calibri"/>
              </a:rPr>
              <a:t> — quantum re-scores top 1%.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43400" y="4251960"/>
            <a:ext cx="3721608" cy="19202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43400" y="4251960"/>
            <a:ext cx="3721608" cy="45720"/>
          </a:xfrm>
          <a:prstGeom prst="rect">
            <a:avLst/>
          </a:prstGeom>
          <a:solidFill>
            <a:srgbClr val="F5B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26280" y="4370832"/>
            <a:ext cx="335584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2027 — mid-term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26280" y="4709160"/>
            <a:ext cx="3355848" cy="14630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F5B72E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500–1,000+ qubits</a:t>
            </a:r>
            <a:r>
              <a:rPr sz="1000" b="0">
                <a:solidFill>
                  <a:srgbClr val="E6EAF2"/>
                </a:solidFill>
                <a:latin typeface="Calibri"/>
              </a:rPr>
              <a:t>, error mitigation maturing.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F5B72E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Quantum kernels viable for </a:t>
            </a:r>
            <a:r>
              <a:rPr sz="1000" b="1">
                <a:solidFill>
                  <a:srgbClr val="E6EAF2"/>
                </a:solidFill>
                <a:latin typeface="Calibri"/>
              </a:rPr>
              <a:t>30–100 features</a:t>
            </a:r>
            <a:r>
              <a:rPr sz="1000" b="0">
                <a:solidFill>
                  <a:srgbClr val="E6EAF2"/>
                </a:solidFill>
                <a:latin typeface="Calibri"/>
              </a:rPr>
              <a:t> in production.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F5B72E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First </a:t>
            </a:r>
            <a:r>
              <a:rPr sz="1000" b="1">
                <a:solidFill>
                  <a:srgbClr val="E6EAF2"/>
                </a:solidFill>
                <a:latin typeface="Calibri"/>
              </a:rPr>
              <a:t>regulated banks</a:t>
            </a:r>
            <a:r>
              <a:rPr sz="1000" b="0">
                <a:solidFill>
                  <a:srgbClr val="E6EAF2"/>
                </a:solidFill>
                <a:latin typeface="Calibri"/>
              </a:rPr>
              <a:t> putting quantum into tier-2 risk decisions.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29600" y="4251960"/>
            <a:ext cx="3721608" cy="19202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29600" y="4251960"/>
            <a:ext cx="3721608" cy="457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0" y="4370832"/>
            <a:ext cx="335584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D232A"/>
                </a:solidFill>
                <a:latin typeface="Calibri"/>
              </a:rPr>
              <a:t>2030 — long-term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4709160"/>
            <a:ext cx="3355848" cy="14630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232A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Fault-tolerant</a:t>
            </a:r>
            <a:r>
              <a:rPr sz="1000" b="0">
                <a:solidFill>
                  <a:srgbClr val="E6EAF2"/>
                </a:solidFill>
                <a:latin typeface="Calibri"/>
              </a:rPr>
              <a:t> for select workloads.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232A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Advantage on optimisation, derivatives, AML graph search.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232A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Late entrants</a:t>
            </a:r>
            <a:r>
              <a:rPr sz="1000" b="0">
                <a:solidFill>
                  <a:srgbClr val="E6EAF2"/>
                </a:solidFill>
                <a:latin typeface="Calibri"/>
              </a:rPr>
              <a:t> face a 3–5 year talent + IP gap.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6263640"/>
            <a:ext cx="11247120" cy="36576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The bet is organisational learning, not raw FLOPs</a:t>
            </a:r>
            <a:r>
              <a:rPr sz="1100" b="1" i="0">
                <a:solidFill>
                  <a:srgbClr val="F5B72E"/>
                </a:solidFill>
                <a:latin typeface="Calibri"/>
              </a:rPr>
              <a:t> — the team and IP we build 2025–2027 is the moat.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FLAGSHIP USE CASE • CARDS,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96012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Use case #1 — Credit-card fraud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9525"/>
          </a:xfrm>
          <a:prstGeom prst="rect">
            <a:avLst/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dfc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365760"/>
            <a:ext cx="132588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AA5BC"/>
                </a:solidFill>
                <a:latin typeface="Calibri"/>
              </a:rPr>
              <a:t>HDFC Bank • Quantum Computing Strategy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AA5BC"/>
                </a:solidFill>
                <a:latin typeface="Calibri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17320"/>
            <a:ext cx="5550408" cy="242316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5550408" cy="54864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36192"/>
            <a:ext cx="518464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D232A"/>
                </a:solidFill>
                <a:latin typeface="Calibri"/>
              </a:rPr>
              <a:t>1. The problem at HDFC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920240"/>
            <a:ext cx="5184648" cy="18745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ED232A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~10 Cr+ card transactions / month</a:t>
            </a:r>
            <a:r>
              <a:rPr sz="1000" b="0">
                <a:solidFill>
                  <a:srgbClr val="E6EAF2"/>
                </a:solidFill>
                <a:latin typeface="Calibri"/>
              </a:rPr>
              <a:t> through HDFC issuing &amp; acquiring rails.</a:t>
            </a:r>
          </a:p>
          <a:p>
            <a:pPr algn="l">
              <a:lnSpc>
                <a:spcPct val="112000"/>
              </a:lnSpc>
            </a:pPr>
            <a:r>
              <a:rPr sz="1000" b="1">
                <a:solidFill>
                  <a:srgbClr val="ED232A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Fraud rate 0.05–0.2%</a:t>
            </a:r>
            <a:r>
              <a:rPr sz="1000" b="0">
                <a:solidFill>
                  <a:srgbClr val="E6EAF2"/>
                </a:solidFill>
                <a:latin typeface="Calibri"/>
              </a:rPr>
              <a:t> — needle in a haystack (~1:1,000).</a:t>
            </a:r>
          </a:p>
          <a:p>
            <a:pPr algn="l">
              <a:lnSpc>
                <a:spcPct val="112000"/>
              </a:lnSpc>
            </a:pPr>
            <a:r>
              <a:rPr sz="1000" b="1">
                <a:solidFill>
                  <a:srgbClr val="ED232A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Industry losses</a:t>
            </a:r>
            <a:r>
              <a:rPr sz="1000" b="0">
                <a:solidFill>
                  <a:srgbClr val="E6EAF2"/>
                </a:solidFill>
                <a:latin typeface="Calibri"/>
              </a:rPr>
              <a:t>: Rs ~1,300 Cr in FY24, </a:t>
            </a:r>
            <a:r>
              <a:rPr sz="1000" b="1">
                <a:solidFill>
                  <a:srgbClr val="E6EAF2"/>
                </a:solidFill>
                <a:latin typeface="Calibri"/>
              </a:rPr>
              <a:t>+20%+ YoY</a:t>
            </a:r>
            <a:r>
              <a:rPr sz="1000" b="0">
                <a:solidFill>
                  <a:srgbClr val="E6EAF2"/>
                </a:solidFill>
                <a:latin typeface="Calibri"/>
              </a:rPr>
              <a:t>.</a:t>
            </a:r>
          </a:p>
          <a:p>
            <a:pPr algn="l">
              <a:lnSpc>
                <a:spcPct val="112000"/>
              </a:lnSpc>
            </a:pPr>
            <a:r>
              <a:rPr sz="1000" b="1">
                <a:solidFill>
                  <a:srgbClr val="ED232A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Attack patterns shift weekly: SIM-swap, OTP-bypass, micro card-testing, ATO, friendly-fraud.</a:t>
            </a:r>
          </a:p>
          <a:p>
            <a:pPr algn="l">
              <a:lnSpc>
                <a:spcPct val="112000"/>
              </a:lnSpc>
            </a:pPr>
            <a:r>
              <a:rPr sz="1000" b="1">
                <a:solidFill>
                  <a:srgbClr val="ED232A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Every </a:t>
            </a:r>
            <a:r>
              <a:rPr sz="1000" b="1">
                <a:solidFill>
                  <a:srgbClr val="E6EAF2"/>
                </a:solidFill>
                <a:latin typeface="Calibri"/>
              </a:rPr>
              <a:t>false decline on a premium card</a:t>
            </a:r>
            <a:r>
              <a:rPr sz="1000" b="0">
                <a:solidFill>
                  <a:srgbClr val="E6EAF2"/>
                </a:solidFill>
                <a:latin typeface="Calibri"/>
              </a:rPr>
              <a:t> erodes wallet share + NPS.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417320"/>
            <a:ext cx="5550408" cy="242316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417320"/>
            <a:ext cx="5550408" cy="5486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536192"/>
            <a:ext cx="518464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EC4B6"/>
                </a:solidFill>
                <a:latin typeface="Calibri"/>
              </a:rPr>
              <a:t>2. Quantum approach — the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920240"/>
            <a:ext cx="5184648" cy="18745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2EC4B6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Features: </a:t>
            </a:r>
            <a:r>
              <a:rPr sz="1000" b="1">
                <a:solidFill>
                  <a:srgbClr val="E6EAF2"/>
                </a:solidFill>
                <a:latin typeface="Calibri"/>
              </a:rPr>
              <a:t>30 today → 500+ over 24 months</a:t>
            </a:r>
            <a:r>
              <a:rPr sz="1000" b="0">
                <a:solidFill>
                  <a:srgbClr val="E6EAF2"/>
                </a:solidFill>
                <a:latin typeface="Calibri"/>
              </a:rPr>
              <a:t> (device, geo, velocity, graph, biometrics).</a:t>
            </a:r>
          </a:p>
          <a:p>
            <a:pPr algn="l">
              <a:lnSpc>
                <a:spcPct val="112000"/>
              </a:lnSpc>
            </a:pPr>
            <a:r>
              <a:rPr sz="1000" b="1">
                <a:solidFill>
                  <a:srgbClr val="2EC4B6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StandardScaler → SMOTE → PCA(k=6) → angle-rescale [−π, π]</a:t>
            </a:r>
            <a:r>
              <a:rPr sz="1000" b="0">
                <a:solidFill>
                  <a:srgbClr val="E6EAF2"/>
                </a:solidFill>
                <a:latin typeface="Calibri"/>
              </a:rPr>
              <a:t>.</a:t>
            </a:r>
          </a:p>
          <a:p>
            <a:pPr algn="l">
              <a:lnSpc>
                <a:spcPct val="112000"/>
              </a:lnSpc>
            </a:pPr>
            <a:r>
              <a:rPr sz="1000" b="1">
                <a:solidFill>
                  <a:srgbClr val="2EC4B6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Encode with </a:t>
            </a:r>
            <a:r>
              <a:rPr sz="1000" b="1">
                <a:solidFill>
                  <a:srgbClr val="E6EAF2"/>
                </a:solidFill>
                <a:latin typeface="Calibri"/>
              </a:rPr>
              <a:t>ZZFeatureMap</a:t>
            </a:r>
            <a:r>
              <a:rPr sz="1000" b="0">
                <a:solidFill>
                  <a:srgbClr val="E6EAF2"/>
                </a:solidFill>
                <a:latin typeface="Calibri"/>
              </a:rPr>
              <a:t> (RZ + RZZ entanglers; linear / circular / full).</a:t>
            </a:r>
          </a:p>
          <a:p>
            <a:pPr algn="l">
              <a:lnSpc>
                <a:spcPct val="112000"/>
              </a:lnSpc>
            </a:pPr>
            <a:r>
              <a:rPr sz="1000" b="1">
                <a:solidFill>
                  <a:srgbClr val="2EC4B6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Score with </a:t>
            </a:r>
            <a:r>
              <a:rPr sz="1000" b="1">
                <a:solidFill>
                  <a:srgbClr val="E6EAF2"/>
                </a:solidFill>
                <a:latin typeface="Calibri"/>
              </a:rPr>
              <a:t>QSVC quantum kernel</a:t>
            </a:r>
            <a:r>
              <a:rPr sz="1000" b="0">
                <a:solidFill>
                  <a:srgbClr val="E6EAF2"/>
                </a:solidFill>
                <a:latin typeface="Calibri"/>
              </a:rPr>
              <a:t> (FidelityQuantumKernel → SVM on Gram matrix).</a:t>
            </a:r>
          </a:p>
          <a:p>
            <a:pPr algn="l">
              <a:lnSpc>
                <a:spcPct val="112000"/>
              </a:lnSpc>
            </a:pPr>
            <a:r>
              <a:rPr sz="1000" b="1">
                <a:solidFill>
                  <a:srgbClr val="2EC4B6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Optimizer: </a:t>
            </a:r>
            <a:r>
              <a:rPr sz="1000" b="1">
                <a:solidFill>
                  <a:srgbClr val="E6EAF2"/>
                </a:solidFill>
                <a:latin typeface="Calibri"/>
              </a:rPr>
              <a:t>SPSA / COBYLA</a:t>
            </a:r>
            <a:r>
              <a:rPr sz="1000" b="0">
                <a:solidFill>
                  <a:srgbClr val="E6EAF2"/>
                </a:solidFill>
                <a:latin typeface="Calibri"/>
              </a:rPr>
              <a:t> on Aer simulator → IBM HW for top events.</a:t>
            </a:r>
          </a:p>
          <a:p>
            <a:pPr algn="l">
              <a:lnSpc>
                <a:spcPct val="112000"/>
              </a:lnSpc>
            </a:pPr>
            <a:r>
              <a:rPr sz="1000" b="1">
                <a:solidFill>
                  <a:srgbClr val="2EC4B6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Output: </a:t>
            </a:r>
            <a:r>
              <a:rPr sz="1000" b="1">
                <a:solidFill>
                  <a:srgbClr val="E6EAF2"/>
                </a:solidFill>
                <a:latin typeface="Calibri"/>
              </a:rPr>
              <a:t>parity decoder → calibrated P(fraud)</a:t>
            </a:r>
            <a:r>
              <a:rPr sz="1000" b="0">
                <a:solidFill>
                  <a:srgbClr val="E6EAF2"/>
                </a:solidFill>
                <a:latin typeface="Calibri"/>
              </a:rPr>
              <a:t> with confidence intervals.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05072"/>
            <a:ext cx="5550408" cy="242316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005072"/>
            <a:ext cx="5550408" cy="54864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23944"/>
            <a:ext cx="518464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  <a:latin typeface="Calibri"/>
              </a:rPr>
              <a:t>3. Where quantum wins (the numbers)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40080" y="4462272"/>
          <a:ext cx="493776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914400"/>
                <a:gridCol w="914400"/>
                <a:gridCol w="914400"/>
              </a:tblGrid>
              <a:tr h="2743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5B72E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5B72E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5B72E"/>
                          </a:solidFill>
                          <a:latin typeface="Calibri"/>
                        </a:rPr>
                        <a:t>QSVC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5B72E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6EAF2"/>
                          </a:solidFill>
                          <a:latin typeface="Calibri"/>
                        </a:rPr>
                        <a:t>AUC-ROC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6EAF2"/>
                          </a:solidFill>
                          <a:latin typeface="Calibri"/>
                        </a:rPr>
                        <a:t>0.989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6EAF2"/>
                          </a:solidFill>
                          <a:latin typeface="Calibri"/>
                        </a:rPr>
                        <a:t>0.992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ECC71"/>
                          </a:solidFill>
                          <a:latin typeface="Calibri"/>
                        </a:rPr>
                        <a:t>+0.3 pt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6EAF2"/>
                          </a:solidFill>
                          <a:latin typeface="Calibri"/>
                        </a:rPr>
                        <a:t>PR-AUC (rare-event)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6EAF2"/>
                          </a:solidFill>
                          <a:latin typeface="Calibri"/>
                        </a:rPr>
                        <a:t>0.864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6EAF2"/>
                          </a:solidFill>
                          <a:latin typeface="Calibri"/>
                        </a:rPr>
                        <a:t>0.901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ECC71"/>
                          </a:solidFill>
                          <a:latin typeface="Calibri"/>
                        </a:rPr>
                        <a:t>+3.7 pts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6EAF2"/>
                          </a:solidFill>
                          <a:latin typeface="Calibri"/>
                        </a:rPr>
                        <a:t>Recall @ 1% FPR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6EAF2"/>
                          </a:solidFill>
                          <a:latin typeface="Calibri"/>
                        </a:rPr>
                        <a:t>0.798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6EAF2"/>
                          </a:solidFill>
                          <a:latin typeface="Calibri"/>
                        </a:rPr>
                        <a:t>0.841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ECC71"/>
                          </a:solidFill>
                          <a:latin typeface="Calibri"/>
                        </a:rPr>
                        <a:t>+4.3 pts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40080" y="5788152"/>
            <a:ext cx="5184648" cy="5943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2ECC71"/>
                </a:solidFill>
                <a:latin typeface="Calibri"/>
              </a:rPr>
              <a:t>■  </a:t>
            </a:r>
            <a:r>
              <a:rPr sz="900" b="0">
                <a:solidFill>
                  <a:srgbClr val="E6EAF2"/>
                </a:solidFill>
                <a:latin typeface="Calibri"/>
              </a:rPr>
              <a:t>Translation: at the same false-alarm budget, QSVC catches </a:t>
            </a:r>
            <a:r>
              <a:rPr sz="900" b="1">
                <a:solidFill>
                  <a:srgbClr val="E6EAF2"/>
                </a:solidFill>
                <a:latin typeface="Calibri"/>
              </a:rPr>
              <a:t>~5% more fraud</a:t>
            </a:r>
            <a:r>
              <a:rPr sz="900" b="0">
                <a:solidFill>
                  <a:srgbClr val="E6EAF2"/>
                </a:solidFill>
                <a:latin typeface="Calibri"/>
              </a:rPr>
              <a:t> — the highest-value tail.</a:t>
            </a:r>
          </a:p>
          <a:p>
            <a:pPr algn="l">
              <a:lnSpc>
                <a:spcPct val="110000"/>
              </a:lnSpc>
            </a:pPr>
            <a:r>
              <a:rPr sz="900" b="1">
                <a:solidFill>
                  <a:srgbClr val="2ECC71"/>
                </a:solidFill>
                <a:latin typeface="Calibri"/>
              </a:rPr>
              <a:t>■  </a:t>
            </a:r>
            <a:r>
              <a:rPr sz="900" b="0">
                <a:solidFill>
                  <a:srgbClr val="E6EAF2"/>
                </a:solidFill>
                <a:latin typeface="Calibri"/>
              </a:rPr>
              <a:t>Patterns unlocked: </a:t>
            </a:r>
            <a:r>
              <a:rPr sz="900" b="1">
                <a:solidFill>
                  <a:srgbClr val="E6EAF2"/>
                </a:solidFill>
                <a:latin typeface="Calibri"/>
              </a:rPr>
              <a:t>spiral / interleaved manifolds</a:t>
            </a:r>
            <a:r>
              <a:rPr sz="900" b="0">
                <a:solidFill>
                  <a:srgbClr val="E6EAF2"/>
                </a:solidFill>
                <a:latin typeface="Calibri"/>
              </a:rPr>
              <a:t> (linear ~47% → ZZ ~78% on the tutorial sandbox).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005072"/>
            <a:ext cx="5550408" cy="242316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4005072"/>
            <a:ext cx="5550408" cy="54864"/>
          </a:xfrm>
          <a:prstGeom prst="rect">
            <a:avLst/>
          </a:prstGeom>
          <a:solidFill>
            <a:srgbClr val="F5B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123944"/>
            <a:ext cx="518464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5B72E"/>
                </a:solidFill>
                <a:latin typeface="Calibri"/>
              </a:rPr>
              <a:t>4. Operating model in production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507992"/>
            <a:ext cx="5184648" cy="18745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F5B72E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Tier 1</a:t>
            </a:r>
            <a:r>
              <a:rPr sz="1000" b="0">
                <a:solidFill>
                  <a:srgbClr val="E6EAF2"/>
                </a:solidFill>
                <a:latin typeface="Calibri"/>
              </a:rPr>
              <a:t> (XGBoost, 3–5 ms p99): scores 100% of tx, </a:t>
            </a:r>
            <a:r>
              <a:rPr sz="1000" b="1">
                <a:solidFill>
                  <a:srgbClr val="E6EAF2"/>
                </a:solidFill>
                <a:latin typeface="Calibri"/>
              </a:rPr>
              <a:t>no SLA change</a:t>
            </a:r>
            <a:r>
              <a:rPr sz="1000" b="0">
                <a:solidFill>
                  <a:srgbClr val="E6EAF2"/>
                </a:solidFill>
                <a:latin typeface="Calibri"/>
              </a:rPr>
              <a:t>.</a:t>
            </a:r>
          </a:p>
          <a:p>
            <a:pPr algn="l">
              <a:lnSpc>
                <a:spcPct val="112000"/>
              </a:lnSpc>
            </a:pPr>
            <a:r>
              <a:rPr sz="1000" b="1">
                <a:solidFill>
                  <a:srgbClr val="F5B72E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Tier 2</a:t>
            </a:r>
            <a:r>
              <a:rPr sz="1000" b="0">
                <a:solidFill>
                  <a:srgbClr val="E6EAF2"/>
                </a:solidFill>
                <a:latin typeface="Calibri"/>
              </a:rPr>
              <a:t> (QSVC, 50–200 ms async): re-scores </a:t>
            </a:r>
            <a:r>
              <a:rPr sz="1000" b="1">
                <a:solidFill>
                  <a:srgbClr val="E6EAF2"/>
                </a:solidFill>
                <a:latin typeface="Calibri"/>
              </a:rPr>
              <a:t>top 1%</a:t>
            </a:r>
            <a:r>
              <a:rPr sz="1000" b="0">
                <a:solidFill>
                  <a:srgbClr val="E6EAF2"/>
                </a:solidFill>
                <a:latin typeface="Calibri"/>
              </a:rPr>
              <a:t> flagged by Tier 1.</a:t>
            </a:r>
          </a:p>
          <a:p>
            <a:pPr algn="l">
              <a:lnSpc>
                <a:spcPct val="112000"/>
              </a:lnSpc>
            </a:pPr>
            <a:r>
              <a:rPr sz="1000" b="1">
                <a:solidFill>
                  <a:srgbClr val="F5B72E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Outputs route to: approve / step-up auth (OTP, biometric) / analyst queue.</a:t>
            </a:r>
          </a:p>
          <a:p>
            <a:pPr algn="l">
              <a:lnSpc>
                <a:spcPct val="112000"/>
              </a:lnSpc>
            </a:pPr>
            <a:r>
              <a:rPr sz="1000" b="1">
                <a:solidFill>
                  <a:srgbClr val="F5B72E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Phase 2: </a:t>
            </a:r>
            <a:r>
              <a:rPr sz="1000" b="1">
                <a:solidFill>
                  <a:srgbClr val="E6EAF2"/>
                </a:solidFill>
                <a:latin typeface="Calibri"/>
              </a:rPr>
              <a:t>shadow mode</a:t>
            </a:r>
            <a:r>
              <a:rPr sz="1000" b="0">
                <a:solidFill>
                  <a:srgbClr val="E6EAF2"/>
                </a:solidFill>
                <a:latin typeface="Calibri"/>
              </a:rPr>
              <a:t> (no customer impact). Phase 3: live re-scoring.</a:t>
            </a:r>
          </a:p>
          <a:p>
            <a:pPr algn="l">
              <a:lnSpc>
                <a:spcPct val="112000"/>
              </a:lnSpc>
            </a:pPr>
            <a:r>
              <a:rPr sz="1000" b="1">
                <a:solidFill>
                  <a:srgbClr val="F5B72E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Loss-avoidance target: Rs 8–10 Cr / yr incremental</a:t>
            </a:r>
            <a:r>
              <a:rPr sz="1000" b="0">
                <a:solidFill>
                  <a:srgbClr val="E6EAF2"/>
                </a:solidFill>
                <a:latin typeface="Calibri"/>
              </a:rPr>
              <a:t> at the same FPR.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COMPLIANCE • REGULATORY MANDATE • SAME QUANTUM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96012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Use case #2 — Anti-Money Laundering (AML)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9525"/>
          </a:xfrm>
          <a:prstGeom prst="rect">
            <a:avLst/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dfc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365760"/>
            <a:ext cx="132588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AA5BC"/>
                </a:solidFill>
                <a:latin typeface="Calibri"/>
              </a:rPr>
              <a:t>HDFC Bank • Quantum Computing Strategy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AA5BC"/>
                </a:solidFill>
                <a:latin typeface="Calibri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17320"/>
            <a:ext cx="5550408" cy="242316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5550408" cy="54864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36192"/>
            <a:ext cx="518464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D232A"/>
                </a:solidFill>
                <a:latin typeface="Calibri"/>
              </a:rPr>
              <a:t>1. The problem at HDFC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920240"/>
            <a:ext cx="5184648" cy="18745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232A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HDFC processes </a:t>
            </a:r>
            <a:r>
              <a:rPr sz="1000" b="1">
                <a:solidFill>
                  <a:srgbClr val="E6EAF2"/>
                </a:solidFill>
                <a:latin typeface="Calibri"/>
              </a:rPr>
              <a:t>~100 Cr+ tx / month</a:t>
            </a:r>
            <a:r>
              <a:rPr sz="1000" b="0">
                <a:solidFill>
                  <a:srgbClr val="E6EAF2"/>
                </a:solidFill>
                <a:latin typeface="Calibri"/>
              </a:rPr>
              <a:t> across cards, UPI, NEFT, RTGS, IMPS.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232A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Current rules + ML hybrid generates </a:t>
            </a:r>
            <a:r>
              <a:rPr sz="1000" b="1">
                <a:solidFill>
                  <a:srgbClr val="E6EAF2"/>
                </a:solidFill>
                <a:latin typeface="Calibri"/>
              </a:rPr>
              <a:t>~10,000+ alerts / month</a:t>
            </a:r>
            <a:r>
              <a:rPr sz="1000" b="0">
                <a:solidFill>
                  <a:srgbClr val="E6EAF2"/>
                </a:solidFill>
                <a:latin typeface="Calibri"/>
              </a:rPr>
              <a:t>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232A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True-positive rate ~3–5%</a:t>
            </a:r>
            <a:r>
              <a:rPr sz="1000" b="0">
                <a:solidFill>
                  <a:srgbClr val="E6EAF2"/>
                </a:solidFill>
                <a:latin typeface="Calibri"/>
              </a:rPr>
              <a:t> — 95% false alerts crush FIU analyst capacity.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232A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Misses today: </a:t>
            </a:r>
            <a:r>
              <a:rPr sz="1000" b="1">
                <a:solidFill>
                  <a:srgbClr val="E6EAF2"/>
                </a:solidFill>
                <a:latin typeface="Calibri"/>
              </a:rPr>
              <a:t>structuring (smurfing)</a:t>
            </a:r>
            <a:r>
              <a:rPr sz="1000" b="0">
                <a:solidFill>
                  <a:srgbClr val="E6EAF2"/>
                </a:solidFill>
                <a:latin typeface="Calibri"/>
              </a:rPr>
              <a:t>, multi-hop layering, synthetic-ID mules, trade-based ML.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232A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Regulatory: </a:t>
            </a:r>
            <a:r>
              <a:rPr sz="1000" b="1">
                <a:solidFill>
                  <a:srgbClr val="E6EAF2"/>
                </a:solidFill>
                <a:latin typeface="Calibri"/>
              </a:rPr>
              <a:t>PMLA, FATF, RBI Master Direction on KYC/AML, FIU-IND</a:t>
            </a:r>
            <a:r>
              <a:rPr sz="1000" b="0">
                <a:solidFill>
                  <a:srgbClr val="E6EAF2"/>
                </a:solidFill>
                <a:latin typeface="Calibri"/>
              </a:rPr>
              <a:t>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232A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Penalties for missed SARs: </a:t>
            </a:r>
            <a:r>
              <a:rPr sz="1000" b="1">
                <a:solidFill>
                  <a:srgbClr val="E6EAF2"/>
                </a:solidFill>
                <a:latin typeface="Calibri"/>
              </a:rPr>
              <a:t>Rs 10 lakh – 50 Cr</a:t>
            </a:r>
            <a:r>
              <a:rPr sz="1000" b="0">
                <a:solidFill>
                  <a:srgbClr val="E6EAF2"/>
                </a:solidFill>
                <a:latin typeface="Calibri"/>
              </a:rPr>
              <a:t> per enforcement 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417320"/>
            <a:ext cx="5550408" cy="242316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417320"/>
            <a:ext cx="5550408" cy="5486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536192"/>
            <a:ext cx="518464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EC4B6"/>
                </a:solidFill>
                <a:latin typeface="Calibri"/>
              </a:rPr>
              <a:t>2. Quantum approach — the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920240"/>
            <a:ext cx="5184648" cy="18745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2EC4B6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Build </a:t>
            </a:r>
            <a:r>
              <a:rPr sz="1000" b="1">
                <a:solidFill>
                  <a:srgbClr val="E6EAF2"/>
                </a:solidFill>
                <a:latin typeface="Calibri"/>
              </a:rPr>
              <a:t>transaction graph</a:t>
            </a:r>
            <a:r>
              <a:rPr sz="1000" b="0">
                <a:solidFill>
                  <a:srgbClr val="E6EAF2"/>
                </a:solidFill>
                <a:latin typeface="Calibri"/>
              </a:rPr>
              <a:t>: nodes = accounts; edges = (amount, time, channel, geo).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2EC4B6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Graph embeddings: </a:t>
            </a:r>
            <a:r>
              <a:rPr sz="1000" b="1">
                <a:solidFill>
                  <a:srgbClr val="E6EAF2"/>
                </a:solidFill>
                <a:latin typeface="Calibri"/>
              </a:rPr>
              <a:t>random walks + Weisfeiler-Lehman</a:t>
            </a:r>
            <a:r>
              <a:rPr sz="1000" b="0">
                <a:solidFill>
                  <a:srgbClr val="E6EAF2"/>
                </a:solidFill>
                <a:latin typeface="Calibri"/>
              </a:rPr>
              <a:t> node vectors.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2EC4B6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Encode embeddings with </a:t>
            </a:r>
            <a:r>
              <a:rPr sz="1000" b="1">
                <a:solidFill>
                  <a:srgbClr val="E6EAF2"/>
                </a:solidFill>
                <a:latin typeface="Calibri"/>
              </a:rPr>
              <a:t>ZZFeatureMap</a:t>
            </a:r>
            <a:r>
              <a:rPr sz="1000" b="0">
                <a:solidFill>
                  <a:srgbClr val="E6EAF2"/>
                </a:solidFill>
                <a:latin typeface="Calibri"/>
              </a:rPr>
              <a:t> → quantum kernel on sub-graph similarity.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2EC4B6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QAOA / quantum walks</a:t>
            </a:r>
            <a:r>
              <a:rPr sz="1000" b="0">
                <a:solidFill>
                  <a:srgbClr val="E6EAF2"/>
                </a:solidFill>
                <a:latin typeface="Calibri"/>
              </a:rPr>
              <a:t> for community detection (laundering rings).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2EC4B6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VQC</a:t>
            </a:r>
            <a:r>
              <a:rPr sz="1000" b="0">
                <a:solidFill>
                  <a:srgbClr val="E6EAF2"/>
                </a:solidFill>
                <a:latin typeface="Calibri"/>
              </a:rPr>
              <a:t> classifies typology: smurfing vs layering vs trade-based vs mule.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2EC4B6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Hybrid: classical rules + ML triage → quantum re-scores top-suspicious sub-graphs.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05072"/>
            <a:ext cx="5550408" cy="242316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005072"/>
            <a:ext cx="5550408" cy="54864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23944"/>
            <a:ext cx="518464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  <a:latin typeface="Calibri"/>
              </a:rPr>
              <a:t>3. Where quantum wins (the targets)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40080" y="4462272"/>
          <a:ext cx="512064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71600"/>
                <a:gridCol w="1371600"/>
              </a:tblGrid>
              <a:tr h="23774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5B72E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5B72E"/>
                          </a:solidFill>
                          <a:latin typeface="Calibri"/>
                        </a:rPr>
                        <a:t>Today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5B72E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6EAF2"/>
                          </a:solidFill>
                          <a:latin typeface="Calibri"/>
                        </a:rPr>
                        <a:t>True-positive rate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6EAF2"/>
                          </a:solidFill>
                          <a:latin typeface="Calibri"/>
                        </a:rPr>
                        <a:t>3–5%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ECC71"/>
                          </a:solidFill>
                          <a:latin typeface="Calibri"/>
                        </a:rPr>
                        <a:t>12–18%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6EAF2"/>
                          </a:solidFill>
                          <a:latin typeface="Calibri"/>
                        </a:rPr>
                        <a:t>False-alert volume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6EAF2"/>
                          </a:solidFill>
                          <a:latin typeface="Calibri"/>
                        </a:rPr>
                        <a:t>100% (base)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ECC71"/>
                          </a:solidFill>
                          <a:latin typeface="Calibri"/>
                        </a:rPr>
                        <a:t>−40%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6EAF2"/>
                          </a:solidFill>
                          <a:latin typeface="Calibri"/>
                        </a:rPr>
                        <a:t>Analyst review time / case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6EAF2"/>
                          </a:solidFill>
                          <a:latin typeface="Calibri"/>
                        </a:rPr>
                        <a:t>100% (base)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ECC71"/>
                          </a:solidFill>
                          <a:latin typeface="Calibri"/>
                        </a:rPr>
                        <a:t>−50%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6EAF2"/>
                          </a:solidFill>
                          <a:latin typeface="Calibri"/>
                        </a:rPr>
                        <a:t>New typologies caught / yr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6EAF2"/>
                          </a:solidFill>
                          <a:latin typeface="Calibri"/>
                        </a:rPr>
                        <a:t>0–1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ECC71"/>
                          </a:solidFill>
                          <a:latin typeface="Calibri"/>
                        </a:rPr>
                        <a:t>+3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40080" y="5760720"/>
            <a:ext cx="5184648" cy="5943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2ECC71"/>
                </a:solidFill>
                <a:latin typeface="Calibri"/>
              </a:rPr>
              <a:t>■  </a:t>
            </a:r>
            <a:r>
              <a:rPr sz="900" b="1">
                <a:solidFill>
                  <a:srgbClr val="E6EAF2"/>
                </a:solidFill>
                <a:latin typeface="Calibri"/>
              </a:rPr>
              <a:t>Sub-graph isomorphism</a:t>
            </a:r>
            <a:r>
              <a:rPr sz="900" b="0">
                <a:solidFill>
                  <a:srgbClr val="E6EAF2"/>
                </a:solidFill>
                <a:latin typeface="Calibri"/>
              </a:rPr>
              <a:t> is structurally hard for classical kernels — quantum walks have known speed-ups.</a:t>
            </a:r>
          </a:p>
          <a:p>
            <a:pPr algn="l">
              <a:lnSpc>
                <a:spcPct val="110000"/>
              </a:lnSpc>
            </a:pPr>
            <a:r>
              <a:rPr sz="900" b="1">
                <a:solidFill>
                  <a:srgbClr val="2ECC71"/>
                </a:solidFill>
                <a:latin typeface="Calibri"/>
              </a:rPr>
              <a:t>■  </a:t>
            </a:r>
            <a:r>
              <a:rPr sz="900" b="0">
                <a:solidFill>
                  <a:srgbClr val="E6EAF2"/>
                </a:solidFill>
                <a:latin typeface="Calibri"/>
              </a:rPr>
              <a:t>Catches </a:t>
            </a:r>
            <a:r>
              <a:rPr sz="900" b="1">
                <a:solidFill>
                  <a:srgbClr val="E6EAF2"/>
                </a:solidFill>
                <a:latin typeface="Calibri"/>
              </a:rPr>
              <a:t>3–5 account chains</a:t>
            </a:r>
            <a:r>
              <a:rPr sz="900" b="0">
                <a:solidFill>
                  <a:srgbClr val="E6EAF2"/>
                </a:solidFill>
                <a:latin typeface="Calibri"/>
              </a:rPr>
              <a:t> across 2–3 jurisdictions; synthetic-ID mule clusters.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005072"/>
            <a:ext cx="5550408" cy="242316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4005072"/>
            <a:ext cx="5550408" cy="54864"/>
          </a:xfrm>
          <a:prstGeom prst="rect">
            <a:avLst/>
          </a:prstGeom>
          <a:solidFill>
            <a:srgbClr val="F5B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123944"/>
            <a:ext cx="518464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5B72E"/>
                </a:solidFill>
                <a:latin typeface="Calibri"/>
              </a:rPr>
              <a:t>4. Operating model in production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507992"/>
            <a:ext cx="5184648" cy="18745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F5B72E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Batch (overnight)</a:t>
            </a:r>
            <a:r>
              <a:rPr sz="1000" b="0">
                <a:solidFill>
                  <a:srgbClr val="E6EAF2"/>
                </a:solidFill>
                <a:latin typeface="Calibri"/>
              </a:rPr>
              <a:t> quantum re-score on full transaction network for SAR pipeline.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F5B72E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Intraday</a:t>
            </a:r>
            <a:r>
              <a:rPr sz="1000" b="0">
                <a:solidFill>
                  <a:srgbClr val="E6EAF2"/>
                </a:solidFill>
                <a:latin typeface="Calibri"/>
              </a:rPr>
              <a:t> re-score on high-risk segments (HRA, PEP, NRI corridors).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F5B72E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Outputs feed </a:t>
            </a:r>
            <a:r>
              <a:rPr sz="1000" b="1">
                <a:solidFill>
                  <a:srgbClr val="E6EAF2"/>
                </a:solidFill>
                <a:latin typeface="Calibri"/>
              </a:rPr>
              <a:t>existing case-management UI</a:t>
            </a:r>
            <a:r>
              <a:rPr sz="1000" b="0">
                <a:solidFill>
                  <a:srgbClr val="E6EAF2"/>
                </a:solidFill>
                <a:latin typeface="Calibri"/>
              </a:rPr>
              <a:t> — no parallel system.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F5B72E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Full </a:t>
            </a:r>
            <a:r>
              <a:rPr sz="1000" b="1">
                <a:solidFill>
                  <a:srgbClr val="E6EAF2"/>
                </a:solidFill>
                <a:latin typeface="Calibri"/>
              </a:rPr>
              <a:t>audit trail</a:t>
            </a:r>
            <a:r>
              <a:rPr sz="1000" b="0">
                <a:solidFill>
                  <a:srgbClr val="E6EAF2"/>
                </a:solidFill>
                <a:latin typeface="Calibri"/>
              </a:rPr>
              <a:t>: kernel weights + sub-graph IDs + typology label (regulator-friendly).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F5B72E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Phase 2 pilot: cards + UPI rails. Phase 3: corporate banking + trade finance.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F5B72E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Compliance cost reduction target: Rs 10–15 Cr / yr.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SECTION C • BEYOND CREDIT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96012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Competitive landscape — we should not be last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9525"/>
          </a:xfrm>
          <a:prstGeom prst="rect">
            <a:avLst/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dfc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365760"/>
            <a:ext cx="132588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AA5BC"/>
                </a:solidFill>
                <a:latin typeface="Calibri"/>
              </a:rPr>
              <a:t>HDFC Bank • Quantum Computing Strategy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AA5BC"/>
                </a:solidFill>
                <a:latin typeface="Calibri"/>
              </a:rPr>
              <a:t>14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554480"/>
          <a:ext cx="11247120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286000"/>
                <a:gridCol w="50292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B72E"/>
                          </a:solidFill>
                          <a:latin typeface="Calibri"/>
                        </a:rPr>
                        <a:t>Institution</a:t>
                      </a:r>
                    </a:p>
                  </a:txBody>
                  <a:tcPr>
                    <a:solidFill>
                      <a:srgbClr val="12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B72E"/>
                          </a:solidFill>
                          <a:latin typeface="Calibri"/>
                        </a:rPr>
                        <a:t>Quantum partner</a:t>
                      </a:r>
                    </a:p>
                  </a:txBody>
                  <a:tcPr>
                    <a:solidFill>
                      <a:srgbClr val="12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B72E"/>
                          </a:solidFill>
                          <a:latin typeface="Calibri"/>
                        </a:rPr>
                        <a:t>Public use case / disclosure</a:t>
                      </a:r>
                    </a:p>
                  </a:txBody>
                  <a:tcPr>
                    <a:solidFill>
                      <a:srgbClr val="12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B72E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>
                    <a:solidFill>
                      <a:srgbClr val="122C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JPMorgan Chase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IBM, AWS Braket, IonQ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Derivatives pricing (Q-MC), portfolio optimisation, payments fraud research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2017+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HSBC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IBM Quantum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Fraud detection, FX &amp; bond pricing, cybersecurity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2022+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Goldman Sachs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IBM, QC Ware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Option pricing with amplitude estimation, risk simulation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2020+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BBVA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Multiverse, Accenture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Portfolio optimisation, credit scoring, dynamic pricing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2019+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Standard Chartered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Multiverse, IBM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Quantum NLP for investment research, derivatives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2021+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BNP Paribas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Pasqal, IBM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Risk model acceleration, fraud research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2021+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State Bank of India / Axis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Internal R&amp;D / academia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Early stage — academic POCs, no production deployment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2023+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57200" y="5897880"/>
            <a:ext cx="11247120" cy="45720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5B72E"/>
                </a:solidFill>
                <a:latin typeface="Calibri"/>
              </a:rPr>
              <a:t>India position:</a:t>
            </a:r>
            <a:r>
              <a:rPr sz="1200" b="0" i="0">
                <a:solidFill>
                  <a:srgbClr val="F5B72E"/>
                </a:solidFill>
                <a:latin typeface="Calibri"/>
              </a:rPr>
              <a:t> no domestic bank in production. </a:t>
            </a:r>
            <a:r>
              <a:rPr sz="1200" b="1" i="0">
                <a:solidFill>
                  <a:srgbClr val="F5B72E"/>
                </a:solidFill>
                <a:latin typeface="Calibri"/>
              </a:rPr>
              <a:t>HDFC has a 12–18 month window</a:t>
            </a:r>
            <a:r>
              <a:rPr sz="1200" b="0" i="0">
                <a:solidFill>
                  <a:srgbClr val="F5B72E"/>
                </a:solidFill>
                <a:latin typeface="Calibri"/>
              </a:rPr>
              <a:t> to be the first Indian bank with a live hybrid quantum risk system.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SECTION C • BEYOND CREDIT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96012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Why HDFC — and why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9525"/>
          </a:xfrm>
          <a:prstGeom prst="rect">
            <a:avLst/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dfc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365760"/>
            <a:ext cx="132588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AA5BC"/>
                </a:solidFill>
                <a:latin typeface="Calibri"/>
              </a:rPr>
              <a:t>HDFC Bank • Quantum Computing Strategy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AA5BC"/>
                </a:solidFill>
                <a:latin typeface="Calibri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50876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3703320" cy="54864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91640"/>
            <a:ext cx="3246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ED232A"/>
                </a:solidFill>
                <a:latin typeface="Calibri"/>
              </a:rPr>
              <a:t>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48840"/>
            <a:ext cx="3246120" cy="1508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We are India's largest private bank by assets — every recall point is worth more than at any other Indian bank.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50876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1508760"/>
            <a:ext cx="3703320" cy="54864"/>
          </a:xfrm>
          <a:prstGeom prst="rect">
            <a:avLst/>
          </a:prstGeom>
          <a:solidFill>
            <a:srgbClr val="F5B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1691640"/>
            <a:ext cx="3246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5B72E"/>
                </a:solidFill>
                <a:latin typeface="Calibri"/>
              </a:rPr>
              <a:t>TALENT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2148840"/>
            <a:ext cx="3246120" cy="1508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We have the engineering bench (incl. PhD-level quantum researchers) to build internally rather than outsource to consultancies.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3024" y="150876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93024" y="1508760"/>
            <a:ext cx="3703320" cy="5486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1624" y="1691640"/>
            <a:ext cx="3246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EC4B6"/>
                </a:solidFill>
                <a:latin typeface="Calibri"/>
              </a:rP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1624" y="2148840"/>
            <a:ext cx="3246120" cy="1508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Our card + UPI + retail-lending + wealth feeds give us the </a:t>
            </a:r>
            <a:r>
              <a:rPr sz="1200" b="1" i="0">
                <a:solidFill>
                  <a:srgbClr val="E6EAF2"/>
                </a:solidFill>
                <a:latin typeface="Calibri"/>
              </a:rPr>
              <a:t>highest-quality training data in the country</a:t>
            </a:r>
            <a:r>
              <a:rPr sz="1200" b="0" i="0">
                <a:solidFill>
                  <a:srgbClr val="E6EAF2"/>
                </a:solidFill>
                <a:latin typeface="Calibri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95344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895344"/>
            <a:ext cx="3703320" cy="54864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078224"/>
            <a:ext cx="3246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ED232A"/>
                </a:solidFill>
                <a:latin typeface="Calibri"/>
              </a:rPr>
              <a:t>REGULATORY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535424"/>
            <a:ext cx="3246120" cy="1508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RBI sandbox + DPDP Act 2023 + EU AI Act extraterritoriality — quantum gives interpretable, auditable kernels by design.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5112" y="3895344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25112" y="3895344"/>
            <a:ext cx="3703320" cy="54864"/>
          </a:xfrm>
          <a:prstGeom prst="rect">
            <a:avLst/>
          </a:prstGeom>
          <a:solidFill>
            <a:srgbClr val="F5B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3712" y="4078224"/>
            <a:ext cx="3246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5B72E"/>
                </a:solidFill>
                <a:latin typeface="Calibri"/>
              </a:rPr>
              <a:t>MOAT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4535424"/>
            <a:ext cx="3246120" cy="1508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First-mover IP, talent magnet, vendor leverage with IBM/AWS/Pasqal/IonQ for next-decade pricing.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93024" y="3895344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93024" y="3895344"/>
            <a:ext cx="3703320" cy="5486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21624" y="4078224"/>
            <a:ext cx="3246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EC4B6"/>
                </a:solidFill>
                <a:latin typeface="Calibri"/>
              </a:rPr>
              <a:t>OPTIONALITY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1624" y="4535424"/>
            <a:ext cx="3246120" cy="1508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Same investment unlocks </a:t>
            </a:r>
            <a:r>
              <a:rPr sz="1200" b="1" i="0">
                <a:solidFill>
                  <a:srgbClr val="E6EAF2"/>
                </a:solidFill>
                <a:latin typeface="Calibri"/>
              </a:rPr>
              <a:t>6+ business lines</a:t>
            </a:r>
            <a:r>
              <a:rPr sz="1200" b="0" i="0">
                <a:solidFill>
                  <a:srgbClr val="E6EAF2"/>
                </a:solidFill>
                <a:latin typeface="Calibri"/>
              </a:rPr>
              <a:t> — not just fraud (see slide 11).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6199632"/>
            <a:ext cx="11247120" cy="36576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6245352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1">
                <a:solidFill>
                  <a:srgbClr val="F5B72E"/>
                </a:solidFill>
                <a:latin typeface="Calibri"/>
              </a:rPr>
              <a:t>The cost of waiting is not zero — every quarter we delay, our competitors lock in talent, IP, and vendor terms.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SECTION D • THE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96012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24-month roadmap — four phases, four go/no-go gates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9525"/>
          </a:xfrm>
          <a:prstGeom prst="rect">
            <a:avLst/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dfc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365760"/>
            <a:ext cx="132588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AA5BC"/>
                </a:solidFill>
                <a:latin typeface="Calibri"/>
              </a:rPr>
              <a:t>HDFC Bank • Quantum Computing Strategy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AA5BC"/>
                </a:solidFill>
                <a:latin typeface="Calibri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554480"/>
            <a:ext cx="2807208" cy="457200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554480"/>
            <a:ext cx="2807208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37360"/>
            <a:ext cx="2441448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EC4B6"/>
                </a:solidFill>
                <a:latin typeface="Calibri"/>
              </a:rPr>
              <a:t>Phase 1 — Foundations</a:t>
            </a:r>
          </a:p>
          <a:p>
            <a:pPr algn="l"/>
            <a:r>
              <a:rPr sz="1200" b="1" i="0">
                <a:solidFill>
                  <a:srgbClr val="2EC4B6"/>
                </a:solidFill>
                <a:latin typeface="Calibri"/>
              </a:rPr>
              <a:t>0–6 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2441448" cy="34747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2EC4B6"/>
                </a:solidFill>
                <a:latin typeface="Calibri"/>
              </a:rPr>
              <a:t>■  </a:t>
            </a:r>
            <a:r>
              <a:rPr sz="1100" b="0">
                <a:solidFill>
                  <a:srgbClr val="E6EAF2"/>
                </a:solidFill>
                <a:latin typeface="Calibri"/>
              </a:rPr>
              <a:t>Hire 2 quantum engineers + 1 quantum researcher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2EC4B6"/>
                </a:solidFill>
                <a:latin typeface="Calibri"/>
              </a:rPr>
              <a:t>■  </a:t>
            </a:r>
            <a:r>
              <a:rPr sz="1100" b="0">
                <a:solidFill>
                  <a:srgbClr val="E6EAF2"/>
                </a:solidFill>
                <a:latin typeface="Calibri"/>
              </a:rPr>
              <a:t>Stand up Qiskit + IBM Quantum Network access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2EC4B6"/>
                </a:solidFill>
                <a:latin typeface="Calibri"/>
              </a:rPr>
              <a:t>■  </a:t>
            </a:r>
            <a:r>
              <a:rPr sz="1100" b="0">
                <a:solidFill>
                  <a:srgbClr val="E6EAF2"/>
                </a:solidFill>
                <a:latin typeface="Calibri"/>
              </a:rPr>
              <a:t>Reproduce demo on real HDFC card data
(red-team under model risk)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2EC4B6"/>
                </a:solidFill>
                <a:latin typeface="Calibri"/>
              </a:rPr>
              <a:t>■  </a:t>
            </a:r>
            <a:r>
              <a:rPr sz="1100" b="0">
                <a:solidFill>
                  <a:srgbClr val="E6EAF2"/>
                </a:solidFill>
                <a:latin typeface="Calibri"/>
              </a:rPr>
              <a:t>Gate: AUC-ROC parity with XGBoost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77540" y="3840480"/>
            <a:ext cx="109728" cy="0"/>
          </a:xfrm>
          <a:prstGeom prst="bentConnector3">
            <a:avLst/>
          </a:prstGeom>
          <a:ln w="19050">
            <a:solidFill>
              <a:srgbClr val="9AA5B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291840" y="1554480"/>
            <a:ext cx="2807208" cy="457200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0" y="1554480"/>
            <a:ext cx="2807208" cy="45720"/>
          </a:xfrm>
          <a:prstGeom prst="rect">
            <a:avLst/>
          </a:prstGeom>
          <a:solidFill>
            <a:srgbClr val="F5B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1737360"/>
            <a:ext cx="2441448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5B72E"/>
                </a:solidFill>
                <a:latin typeface="Calibri"/>
              </a:rPr>
              <a:t>Phase 2 — Pilot</a:t>
            </a:r>
          </a:p>
          <a:p>
            <a:pPr algn="l"/>
            <a:r>
              <a:rPr sz="1200" b="1" i="0">
                <a:solidFill>
                  <a:srgbClr val="F5B72E"/>
                </a:solidFill>
                <a:latin typeface="Calibri"/>
              </a:rPr>
              <a:t>6–12 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606040"/>
            <a:ext cx="2441448" cy="34747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F5B72E"/>
                </a:solidFill>
                <a:latin typeface="Calibri"/>
              </a:rPr>
              <a:t>■  </a:t>
            </a:r>
            <a:r>
              <a:rPr sz="1100" b="0">
                <a:solidFill>
                  <a:srgbClr val="E6EAF2"/>
                </a:solidFill>
                <a:latin typeface="Calibri"/>
              </a:rPr>
              <a:t>Tier-2 quantum re-scorer in shadow mode
(no customer impact)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F5B72E"/>
                </a:solidFill>
                <a:latin typeface="Calibri"/>
              </a:rPr>
              <a:t>■  </a:t>
            </a:r>
            <a:r>
              <a:rPr sz="1100" b="0">
                <a:solidFill>
                  <a:srgbClr val="E6EAF2"/>
                </a:solidFill>
                <a:latin typeface="Calibri"/>
              </a:rPr>
              <a:t>Side-by-side metrics for 90 days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F5B72E"/>
                </a:solidFill>
                <a:latin typeface="Calibri"/>
              </a:rPr>
              <a:t>■  </a:t>
            </a:r>
            <a:r>
              <a:rPr sz="1100" b="0">
                <a:solidFill>
                  <a:srgbClr val="E6EAF2"/>
                </a:solidFill>
                <a:latin typeface="Calibri"/>
              </a:rPr>
              <a:t>First IBM Quantum HW runs on top-1% queue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F5B72E"/>
                </a:solidFill>
                <a:latin typeface="Calibri"/>
              </a:rPr>
              <a:t>■  </a:t>
            </a:r>
            <a:r>
              <a:rPr sz="1100" b="0">
                <a:solidFill>
                  <a:srgbClr val="E6EAF2"/>
                </a:solidFill>
                <a:latin typeface="Calibri"/>
              </a:rPr>
              <a:t>Gate: +2 pts recall@1%FPR vs prod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03620" y="3840480"/>
            <a:ext cx="109728" cy="0"/>
          </a:xfrm>
          <a:prstGeom prst="bentConnector3">
            <a:avLst/>
          </a:prstGeom>
          <a:ln w="19050">
            <a:solidFill>
              <a:srgbClr val="9AA5B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17920" y="1554480"/>
            <a:ext cx="2807208" cy="457200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554480"/>
            <a:ext cx="2807208" cy="457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737360"/>
            <a:ext cx="2441448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D232A"/>
                </a:solidFill>
                <a:latin typeface="Calibri"/>
              </a:rPr>
              <a:t>Phase 3 — Production</a:t>
            </a:r>
          </a:p>
          <a:p>
            <a:pPr algn="l"/>
            <a:r>
              <a:rPr sz="1200" b="1" i="0">
                <a:solidFill>
                  <a:srgbClr val="ED232A"/>
                </a:solidFill>
                <a:latin typeface="Calibri"/>
              </a:rPr>
              <a:t>12–18 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606040"/>
            <a:ext cx="2441448" cy="34747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ED232A"/>
                </a:solidFill>
                <a:latin typeface="Calibri"/>
              </a:rPr>
              <a:t>■  </a:t>
            </a:r>
            <a:r>
              <a:rPr sz="1100" b="0">
                <a:solidFill>
                  <a:srgbClr val="E6EAF2"/>
                </a:solidFill>
                <a:latin typeface="Calibri"/>
              </a:rPr>
              <a:t>Live tier-2 quantum scoring — cards first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ED232A"/>
                </a:solidFill>
                <a:latin typeface="Calibri"/>
              </a:rPr>
              <a:t>■  </a:t>
            </a:r>
            <a:r>
              <a:rPr sz="1100" b="0">
                <a:solidFill>
                  <a:srgbClr val="E6EAF2"/>
                </a:solidFill>
                <a:latin typeface="Calibri"/>
              </a:rPr>
              <a:t>Extend to UPI + AML transaction monitoring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ED232A"/>
                </a:solidFill>
                <a:latin typeface="Calibri"/>
              </a:rPr>
              <a:t>■  </a:t>
            </a:r>
            <a:r>
              <a:rPr sz="1100" b="0">
                <a:solidFill>
                  <a:srgbClr val="E6EAF2"/>
                </a:solidFill>
                <a:latin typeface="Calibri"/>
              </a:rPr>
              <a:t>Model risk approval; SR 11-7 / RBI alignment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ED232A"/>
                </a:solidFill>
                <a:latin typeface="Calibri"/>
              </a:rPr>
              <a:t>■  </a:t>
            </a:r>
            <a:r>
              <a:rPr sz="1100" b="0">
                <a:solidFill>
                  <a:srgbClr val="E6EAF2"/>
                </a:solidFill>
                <a:latin typeface="Calibri"/>
              </a:rPr>
              <a:t>Gate: net Rs 30+ Cr loss avoidance run-rate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29700" y="3840480"/>
            <a:ext cx="109728" cy="0"/>
          </a:xfrm>
          <a:prstGeom prst="bentConnector3">
            <a:avLst/>
          </a:prstGeom>
          <a:ln w="19050">
            <a:solidFill>
              <a:srgbClr val="9AA5B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144000" y="1554480"/>
            <a:ext cx="2807208" cy="457200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0" y="1554480"/>
            <a:ext cx="2807208" cy="45720"/>
          </a:xfrm>
          <a:prstGeom prst="rect">
            <a:avLst/>
          </a:prstGeom>
          <a:solidFill>
            <a:srgbClr val="F5B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1737360"/>
            <a:ext cx="2441448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5B72E"/>
                </a:solidFill>
                <a:latin typeface="Calibri"/>
              </a:rPr>
              <a:t>Phase 4 — Scale</a:t>
            </a:r>
          </a:p>
          <a:p>
            <a:pPr algn="l"/>
            <a:r>
              <a:rPr sz="1200" b="1" i="0">
                <a:solidFill>
                  <a:srgbClr val="F5B72E"/>
                </a:solidFill>
                <a:latin typeface="Calibri"/>
              </a:rPr>
              <a:t>18–24 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606040"/>
            <a:ext cx="2441448" cy="34747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F5B72E"/>
                </a:solidFill>
                <a:latin typeface="Calibri"/>
              </a:rPr>
              <a:t>■  </a:t>
            </a:r>
            <a:r>
              <a:rPr sz="1100" b="0">
                <a:solidFill>
                  <a:srgbClr val="E6EAF2"/>
                </a:solidFill>
                <a:latin typeface="Calibri"/>
              </a:rPr>
              <a:t>Onboard 2 new use cases (slide 11)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F5B72E"/>
                </a:solidFill>
                <a:latin typeface="Calibri"/>
              </a:rPr>
              <a:t>■  </a:t>
            </a:r>
            <a:r>
              <a:rPr sz="1100" b="0">
                <a:solidFill>
                  <a:srgbClr val="E6EAF2"/>
                </a:solidFill>
                <a:latin typeface="Calibri"/>
              </a:rPr>
              <a:t>Internal quantum platform-as-a-service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F5B72E"/>
                </a:solidFill>
                <a:latin typeface="Calibri"/>
              </a:rPr>
              <a:t>■  </a:t>
            </a:r>
            <a:r>
              <a:rPr sz="1100" b="0">
                <a:solidFill>
                  <a:srgbClr val="E6EAF2"/>
                </a:solidFill>
                <a:latin typeface="Calibri"/>
              </a:rPr>
              <a:t>Publish 2 papers + 1 patent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F5B72E"/>
                </a:solidFill>
                <a:latin typeface="Calibri"/>
              </a:rPr>
              <a:t>■  </a:t>
            </a:r>
            <a:r>
              <a:rPr sz="1100" b="0">
                <a:solidFill>
                  <a:srgbClr val="E6EAF2"/>
                </a:solidFill>
                <a:latin typeface="Calibri"/>
              </a:rPr>
              <a:t>Gate: cross-LOB demand &gt; supply → expand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6199632"/>
            <a:ext cx="11475720" cy="384048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236208"/>
            <a:ext cx="109728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1">
                <a:solidFill>
                  <a:srgbClr val="E6EAF2"/>
                </a:solidFill>
                <a:latin typeface="Calibri"/>
              </a:rPr>
              <a:t>Each gate is a board-level go/no-go. Worst-case off-ramp: keep classical, retain talent for AI/ML, paid Rs 8–12 Cr for 24 months of optionality.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SECTION D • THE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96012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Investment ask &amp; ROI envelope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9525"/>
          </a:xfrm>
          <a:prstGeom prst="rect">
            <a:avLst/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dfc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365760"/>
            <a:ext cx="132588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AA5BC"/>
                </a:solidFill>
                <a:latin typeface="Calibri"/>
              </a:rPr>
              <a:t>HDFC Bank • Quantum Computing Strategy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AA5BC"/>
                </a:solidFill>
                <a:latin typeface="Calibri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5B72E"/>
                </a:solidFill>
                <a:latin typeface="Calibri"/>
              </a:rPr>
              <a:t>WHAT IT COSTS (24 MONTHS)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828800"/>
          <a:ext cx="5760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188720"/>
                <a:gridCol w="118872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B72E"/>
                          </a:solidFill>
                          <a:latin typeface="Calibri"/>
                        </a:rPr>
                        <a:t>Line item</a:t>
                      </a:r>
                    </a:p>
                  </a:txBody>
                  <a:tcPr>
                    <a:solidFill>
                      <a:srgbClr val="12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B72E"/>
                          </a:solidFill>
                          <a:latin typeface="Calibri"/>
                        </a:rPr>
                        <a:t>Y1 (Rs Cr)</a:t>
                      </a:r>
                    </a:p>
                  </a:txBody>
                  <a:tcPr>
                    <a:solidFill>
                      <a:srgbClr val="12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B72E"/>
                          </a:solidFill>
                          <a:latin typeface="Calibri"/>
                        </a:rPr>
                        <a:t>Y2 (Rs Cr)</a:t>
                      </a:r>
                    </a:p>
                  </a:txBody>
                  <a:tcPr>
                    <a:solidFill>
                      <a:srgbClr val="122C5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Talent (5–7 FTE)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IBM Quantum Network access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0.6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0.6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Cloud sim compute (AWS Braket / GCP)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0.4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Tooling, software, model risk audit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0.4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Academic collaboration (IIT/IISc)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AF2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4.8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92240" y="14173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5B72E"/>
                </a:solidFill>
                <a:latin typeface="Calibri"/>
              </a:rPr>
              <a:t>WHAT IT COULD RETURN (STEADY STATE)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828800"/>
            <a:ext cx="5212080" cy="42062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011680"/>
            <a:ext cx="4937760" cy="39319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ECC71"/>
                </a:solidFill>
                <a:latin typeface="Calibri"/>
              </a:rPr>
              <a:t>■  </a:t>
            </a:r>
            <a:r>
              <a:rPr sz="1100" b="1">
                <a:solidFill>
                  <a:srgbClr val="E6EAF2"/>
                </a:solidFill>
                <a:latin typeface="Calibri"/>
              </a:rPr>
              <a:t>Card fraud loss avoidance</a:t>
            </a:r>
            <a:r>
              <a:rPr sz="1100" b="0">
                <a:solidFill>
                  <a:srgbClr val="E6EAF2"/>
                </a:solidFill>
                <a:latin typeface="Calibri"/>
              </a:rPr>
              <a:t>
   +2 pts recall@1%FPR × Rs 400 Cr exposed loss
   = </a:t>
            </a:r>
            <a:r>
              <a:rPr sz="1100" b="1">
                <a:solidFill>
                  <a:srgbClr val="E6EAF2"/>
                </a:solidFill>
                <a:latin typeface="Calibri"/>
              </a:rPr>
              <a:t>~Rs 8–10 Cr / yr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2ECC71"/>
                </a:solidFill>
                <a:latin typeface="Calibri"/>
              </a:rPr>
              <a:t>■  </a:t>
            </a:r>
            <a:r>
              <a:rPr sz="1100" b="1">
                <a:solidFill>
                  <a:srgbClr val="E6EAF2"/>
                </a:solidFill>
                <a:latin typeface="Calibri"/>
              </a:rPr>
              <a:t>False-decline reduction (UX gain)</a:t>
            </a:r>
            <a:r>
              <a:rPr sz="1100" b="0">
                <a:solidFill>
                  <a:srgbClr val="E6EAF2"/>
                </a:solidFill>
                <a:latin typeface="Calibri"/>
              </a:rPr>
              <a:t>
   −0.3 pts FPR on premium cards
   → retained spend / NPS ≈ </a:t>
            </a:r>
            <a:r>
              <a:rPr sz="1100" b="1">
                <a:solidFill>
                  <a:srgbClr val="E6EAF2"/>
                </a:solidFill>
                <a:latin typeface="Calibri"/>
              </a:rPr>
              <a:t>Rs 30–40 Cr / yr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2ECC71"/>
                </a:solidFill>
                <a:latin typeface="Calibri"/>
              </a:rPr>
              <a:t>■  </a:t>
            </a:r>
            <a:r>
              <a:rPr sz="1100" b="1">
                <a:solidFill>
                  <a:srgbClr val="E6EAF2"/>
                </a:solidFill>
                <a:latin typeface="Calibri"/>
              </a:rPr>
              <a:t>AML cost reduction</a:t>
            </a:r>
            <a:r>
              <a:rPr sz="1100" b="0">
                <a:solidFill>
                  <a:srgbClr val="E6EAF2"/>
                </a:solidFill>
                <a:latin typeface="Calibri"/>
              </a:rPr>
              <a:t>
   Fewer human reviews, faster typology discovery
   = </a:t>
            </a:r>
            <a:r>
              <a:rPr sz="1100" b="1">
                <a:solidFill>
                  <a:srgbClr val="E6EAF2"/>
                </a:solidFill>
                <a:latin typeface="Calibri"/>
              </a:rPr>
              <a:t>Rs 10–15 Cr / yr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2ECC71"/>
                </a:solidFill>
                <a:latin typeface="Calibri"/>
              </a:rPr>
              <a:t>■  </a:t>
            </a:r>
            <a:r>
              <a:rPr sz="1100" b="1">
                <a:solidFill>
                  <a:srgbClr val="E6EAF2"/>
                </a:solidFill>
                <a:latin typeface="Calibri"/>
              </a:rPr>
              <a:t>Treasury / pricing optionality</a:t>
            </a:r>
            <a:r>
              <a:rPr sz="1100" b="0">
                <a:solidFill>
                  <a:srgbClr val="E6EAF2"/>
                </a:solidFill>
                <a:latin typeface="Calibri"/>
              </a:rPr>
              <a:t>
   Quadratic Monte-Carlo speed-up at scale
   = </a:t>
            </a:r>
            <a:r>
              <a:rPr sz="1100" b="1">
                <a:solidFill>
                  <a:srgbClr val="E6EAF2"/>
                </a:solidFill>
                <a:latin typeface="Calibri"/>
              </a:rPr>
              <a:t>Rs 15–25 Cr / yr</a:t>
            </a:r>
            <a:r>
              <a:rPr sz="1100" b="0">
                <a:solidFill>
                  <a:srgbClr val="E6EAF2"/>
                </a:solidFill>
                <a:latin typeface="Calibri"/>
              </a:rPr>
              <a:t> unlock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2ECC71"/>
                </a:solidFill>
                <a:latin typeface="Calibri"/>
              </a:rPr>
              <a:t>■  </a:t>
            </a:r>
            <a:r>
              <a:rPr sz="1100" b="1">
                <a:solidFill>
                  <a:srgbClr val="E6EAF2"/>
                </a:solidFill>
                <a:latin typeface="Calibri"/>
              </a:rPr>
              <a:t>Talent + IP moat</a:t>
            </a:r>
            <a:r>
              <a:rPr sz="1100" b="0">
                <a:solidFill>
                  <a:srgbClr val="E6EAF2"/>
                </a:solidFill>
                <a:latin typeface="Calibri"/>
              </a:rPr>
              <a:t>
   Hard to quantify — not zero.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897880"/>
            <a:ext cx="11247120" cy="45720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5B72E"/>
                </a:solidFill>
                <a:latin typeface="Calibri"/>
              </a:rPr>
              <a:t>Net:</a:t>
            </a:r>
            <a:r>
              <a:rPr sz="1200" b="0" i="0">
                <a:solidFill>
                  <a:srgbClr val="F5B72E"/>
                </a:solidFill>
                <a:latin typeface="Calibri"/>
              </a:rPr>
              <a:t> Rs 8.8 Cr investment over 24 months for a Rs 60–90 Cr/yr steady-state opportunity — </a:t>
            </a:r>
            <a:r>
              <a:rPr sz="1200" b="1" i="0">
                <a:solidFill>
                  <a:srgbClr val="F5B72E"/>
                </a:solidFill>
                <a:latin typeface="Calibri"/>
              </a:rPr>
              <a:t>payback &lt; 18 months on the central case.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SECTION D • THE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96012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Risk register &amp; mitigations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9525"/>
          </a:xfrm>
          <a:prstGeom prst="rect">
            <a:avLst/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dfc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365760"/>
            <a:ext cx="132588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AA5BC"/>
                </a:solidFill>
                <a:latin typeface="Calibri"/>
              </a:rPr>
              <a:t>HDFC Bank • Quantum Computing Strategy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AA5BC"/>
                </a:solidFill>
                <a:latin typeface="Calibri"/>
              </a:rPr>
              <a:t>18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554480"/>
          <a:ext cx="1124712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188720"/>
                <a:gridCol w="6949440"/>
                <a:gridCol w="182880"/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B72E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>
                    <a:solidFill>
                      <a:srgbClr val="12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B72E"/>
                          </a:solidFill>
                          <a:latin typeface="Calibri"/>
                        </a:rPr>
                        <a:t>Likelihood</a:t>
                      </a:r>
                    </a:p>
                  </a:txBody>
                  <a:tcPr>
                    <a:solidFill>
                      <a:srgbClr val="12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B72E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>
                    <a:solidFill>
                      <a:srgbClr val="122C5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22C5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Quantum hardware not ready in time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Likely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Hybrid serving means classical handles 99% — quantum is upside, not critical path. Off-ramp = keep classical baselines.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ED23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Talent attrition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Retention pkg + academic collab (IIT/IISc PhD pipeline) + cross-training of existing AI/ML team.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B7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Model risk / RBI scrutiny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Quantum kernels are auditable; SR 11-7-aligned model risk framework from Day 1. Pre-engage RBI Innovation Hub.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B7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Vendor lock-in (IBM)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Qiskit + Pennylane abstractions — portable to AWS Braket, IonQ, Pasqal, Quantinuum. Multi-vendor by Phase 3.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2EC4B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Performance does not generalise to production data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Phase 1 gate is parity with XGBoost on real HDFC data — fail fast, no production exposure.</a:t>
                      </a:r>
                    </a:p>
                  </a:txBody>
                  <a:tcPr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ED23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Regulatory / privacy (DPDP, GDPR-extra)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>On-prem simulation for sensitive features; only PCA-projected vectors leave the boundary.</a:t>
                      </a:r>
                    </a:p>
                  </a:txBody>
                  <a:tcPr>
                    <a:solidFill>
                      <a:srgbClr val="0F2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AF2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2EC4B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F5B72E"/>
                </a:solidFill>
                <a:latin typeface="Calibri"/>
              </a:rPr>
              <a:t>Worst-case scenario: 24 months of optionality + a trained quantum bench, at &lt;0.05% of HDFC's annual technology budget.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SECTION D • THE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96012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How we will measure success — board-visible KPIs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9525"/>
          </a:xfrm>
          <a:prstGeom prst="rect">
            <a:avLst/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dfc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365760"/>
            <a:ext cx="132588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AA5BC"/>
                </a:solidFill>
                <a:latin typeface="Calibri"/>
              </a:rPr>
              <a:t>HDFC Bank • Quantum Computing Strategy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AA5BC"/>
                </a:solidFill>
                <a:latin typeface="Calibri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554480"/>
            <a:ext cx="2834640" cy="457200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554480"/>
            <a:ext cx="2834640" cy="5486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37360"/>
            <a:ext cx="2468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EC4B6"/>
                </a:solidFill>
                <a:latin typeface="Calibri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94560"/>
            <a:ext cx="246888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EC4B6"/>
                </a:solidFill>
                <a:latin typeface="Calibri"/>
              </a:rPr>
              <a:t>■  </a:t>
            </a:r>
            <a:r>
              <a:rPr sz="1200" b="0">
                <a:solidFill>
                  <a:srgbClr val="E6EAF2"/>
                </a:solidFill>
                <a:latin typeface="Calibri"/>
              </a:rPr>
              <a:t>AUC-ROC ≥ 0.985 (parity with prod)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2EC4B6"/>
                </a:solidFill>
                <a:latin typeface="Calibri"/>
              </a:rPr>
              <a:t>■  </a:t>
            </a:r>
            <a:r>
              <a:rPr sz="1200" b="0">
                <a:solidFill>
                  <a:srgbClr val="E6EAF2"/>
                </a:solidFill>
                <a:latin typeface="Calibri"/>
              </a:rPr>
              <a:t>PR-AUC ≥ prod + 2 pts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2EC4B6"/>
                </a:solidFill>
                <a:latin typeface="Calibri"/>
              </a:rPr>
              <a:t>■  </a:t>
            </a:r>
            <a:r>
              <a:rPr sz="1200" b="0">
                <a:solidFill>
                  <a:srgbClr val="E6EAF2"/>
                </a:solidFill>
                <a:latin typeface="Calibri"/>
              </a:rPr>
              <a:t>Recall@1%FPR ≥ prod + 2 pts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2EC4B6"/>
                </a:solidFill>
                <a:latin typeface="Calibri"/>
              </a:rPr>
              <a:t>■  </a:t>
            </a:r>
            <a:r>
              <a:rPr sz="1200" b="0">
                <a:solidFill>
                  <a:srgbClr val="E6EAF2"/>
                </a:solidFill>
                <a:latin typeface="Calibri"/>
              </a:rPr>
              <a:t>Concept-drift PSI within bounds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1554480"/>
            <a:ext cx="2834640" cy="457200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9272" y="1554480"/>
            <a:ext cx="2834640" cy="54864"/>
          </a:xfrm>
          <a:prstGeom prst="rect">
            <a:avLst/>
          </a:prstGeom>
          <a:solidFill>
            <a:srgbClr val="F5B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1737360"/>
            <a:ext cx="2468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5B72E"/>
                </a:solidFill>
                <a:latin typeface="Calibri"/>
              </a:rPr>
              <a:t>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2194560"/>
            <a:ext cx="246888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B72E"/>
                </a:solidFill>
                <a:latin typeface="Calibri"/>
              </a:rPr>
              <a:t>■  </a:t>
            </a:r>
            <a:r>
              <a:rPr sz="1200" b="0">
                <a:solidFill>
                  <a:srgbClr val="E6EAF2"/>
                </a:solidFill>
                <a:latin typeface="Calibri"/>
              </a:rPr>
              <a:t>Net fraud loss avoided (Rs Cr / qtr)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B72E"/>
                </a:solidFill>
                <a:latin typeface="Calibri"/>
              </a:rPr>
              <a:t>■  </a:t>
            </a:r>
            <a:r>
              <a:rPr sz="1200" b="0">
                <a:solidFill>
                  <a:srgbClr val="E6EAF2"/>
                </a:solidFill>
                <a:latin typeface="Calibri"/>
              </a:rPr>
              <a:t>False-decline rate on premium cards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B72E"/>
                </a:solidFill>
                <a:latin typeface="Calibri"/>
              </a:rPr>
              <a:t>■  </a:t>
            </a:r>
            <a:r>
              <a:rPr sz="1200" b="0">
                <a:solidFill>
                  <a:srgbClr val="E6EAF2"/>
                </a:solidFill>
                <a:latin typeface="Calibri"/>
              </a:rPr>
              <a:t>AML alert quality (true-positive %)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B72E"/>
                </a:solidFill>
                <a:latin typeface="Calibri"/>
              </a:rPr>
              <a:t>■  </a:t>
            </a:r>
            <a:r>
              <a:rPr sz="1200" b="0">
                <a:solidFill>
                  <a:srgbClr val="E6EAF2"/>
                </a:solidFill>
                <a:latin typeface="Calibri"/>
              </a:rPr>
              <a:t>NPS impact on flagged-but-cleared txns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1554480"/>
            <a:ext cx="2834640" cy="457200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2784" y="1554480"/>
            <a:ext cx="2834640" cy="54864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1737360"/>
            <a:ext cx="2468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ED232A"/>
                </a:solidFill>
                <a:latin typeface="Calibri"/>
              </a:rPr>
              <a:t>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2194560"/>
            <a:ext cx="246888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D232A"/>
                </a:solidFill>
                <a:latin typeface="Calibri"/>
              </a:rPr>
              <a:t>■  </a:t>
            </a:r>
            <a:r>
              <a:rPr sz="1200" b="0">
                <a:solidFill>
                  <a:srgbClr val="E6EAF2"/>
                </a:solidFill>
                <a:latin typeface="Calibri"/>
              </a:rPr>
              <a:t>p99 quantum re-score latency (ms)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ED232A"/>
                </a:solidFill>
                <a:latin typeface="Calibri"/>
              </a:rPr>
              <a:t>■  </a:t>
            </a:r>
            <a:r>
              <a:rPr sz="1200" b="0">
                <a:solidFill>
                  <a:srgbClr val="E6EAF2"/>
                </a:solidFill>
                <a:latin typeface="Calibri"/>
              </a:rPr>
              <a:t>Tier-2 throughput (top-1% covered)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ED232A"/>
                </a:solidFill>
                <a:latin typeface="Calibri"/>
              </a:rPr>
              <a:t>■  </a:t>
            </a:r>
            <a:r>
              <a:rPr sz="1200" b="0">
                <a:solidFill>
                  <a:srgbClr val="E6EAF2"/>
                </a:solidFill>
                <a:latin typeface="Calibri"/>
              </a:rPr>
              <a:t>Model deployment cadence (weeks)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ED232A"/>
                </a:solidFill>
                <a:latin typeface="Calibri"/>
              </a:rPr>
              <a:t>■  </a:t>
            </a:r>
            <a:r>
              <a:rPr sz="1200" b="0">
                <a:solidFill>
                  <a:srgbClr val="E6EAF2"/>
                </a:solidFill>
                <a:latin typeface="Calibri"/>
              </a:rPr>
              <a:t>Incident count / quarter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26296" y="1554480"/>
            <a:ext cx="2834640" cy="457200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26296" y="1554480"/>
            <a:ext cx="2834640" cy="54864"/>
          </a:xfrm>
          <a:prstGeom prst="rect">
            <a:avLst/>
          </a:prstGeom>
          <a:solidFill>
            <a:srgbClr val="F5B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09176" y="1737360"/>
            <a:ext cx="2468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5B72E"/>
                </a:solidFill>
                <a:latin typeface="Calibri"/>
              </a:rPr>
              <a:t>ORG / 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9176" y="2194560"/>
            <a:ext cx="246888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B72E"/>
                </a:solidFill>
                <a:latin typeface="Calibri"/>
              </a:rPr>
              <a:t>■  </a:t>
            </a:r>
            <a:r>
              <a:rPr sz="1200" b="0">
                <a:solidFill>
                  <a:srgbClr val="E6EAF2"/>
                </a:solidFill>
                <a:latin typeface="Calibri"/>
              </a:rPr>
              <a:t>Quantum FTE retention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B72E"/>
                </a:solidFill>
                <a:latin typeface="Calibri"/>
              </a:rPr>
              <a:t>■  </a:t>
            </a:r>
            <a:r>
              <a:rPr sz="1200" b="0">
                <a:solidFill>
                  <a:srgbClr val="E6EAF2"/>
                </a:solidFill>
                <a:latin typeface="Calibri"/>
              </a:rPr>
              <a:t>Patents filed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B72E"/>
                </a:solidFill>
                <a:latin typeface="Calibri"/>
              </a:rPr>
              <a:t>■  </a:t>
            </a:r>
            <a:r>
              <a:rPr sz="1200" b="0">
                <a:solidFill>
                  <a:srgbClr val="E6EAF2"/>
                </a:solidFill>
                <a:latin typeface="Calibri"/>
              </a:rPr>
              <a:t>Papers / industry talks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B72E"/>
                </a:solidFill>
                <a:latin typeface="Calibri"/>
              </a:rPr>
              <a:t>■  </a:t>
            </a:r>
            <a:r>
              <a:rPr sz="1200" b="0">
                <a:solidFill>
                  <a:srgbClr val="E6EAF2"/>
                </a:solidFill>
                <a:latin typeface="Calibri"/>
              </a:rPr>
              <a:t>Cross-LOB use cases on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36208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9AA5BC"/>
                </a:solidFill>
                <a:latin typeface="Calibri"/>
              </a:rPr>
              <a:t>Reported quarterly to the Risk &amp; Technology Sub-committees of the Board.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dfc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1335" y="502920"/>
            <a:ext cx="2377440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82296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5B72E"/>
                </a:solidFill>
                <a:latin typeface="Calibri"/>
              </a:rPr>
              <a:t>DECISION REQUESTED FROM THE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Approve Phase 1 funding</a:t>
            </a:r>
          </a:p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of Rs 4.0 Cr for FY26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91840"/>
            <a:ext cx="10241280" cy="219456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429000"/>
            <a:ext cx="9692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5B72E"/>
                </a:solidFill>
                <a:latin typeface="Calibri"/>
              </a:rPr>
              <a:t>WHAT THIS UNLOCKS IN THE NEXT 90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840480"/>
            <a:ext cx="9692640" cy="15544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D232A"/>
                </a:solidFill>
                <a:latin typeface="Calibri"/>
              </a:rPr>
              <a:t>■  </a:t>
            </a:r>
            <a:r>
              <a:rPr sz="1400" b="0">
                <a:solidFill>
                  <a:srgbClr val="E6EAF2"/>
                </a:solidFill>
                <a:latin typeface="Calibri"/>
              </a:rPr>
              <a:t>Hire core team (lead + 2 engineers) and onboard IBM Quantum Network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ED232A"/>
                </a:solidFill>
                <a:latin typeface="Calibri"/>
              </a:rPr>
              <a:t>■  </a:t>
            </a:r>
            <a:r>
              <a:rPr sz="1400" b="0">
                <a:solidFill>
                  <a:srgbClr val="E6EAF2"/>
                </a:solidFill>
                <a:latin typeface="Calibri"/>
              </a:rPr>
              <a:t>Reproduce demo on </a:t>
            </a:r>
            <a:r>
              <a:rPr sz="1400" b="1">
                <a:solidFill>
                  <a:srgbClr val="E6EAF2"/>
                </a:solidFill>
                <a:latin typeface="Calibri"/>
              </a:rPr>
              <a:t>real HDFC card data</a:t>
            </a:r>
            <a:r>
              <a:rPr sz="1400" b="0">
                <a:solidFill>
                  <a:srgbClr val="E6EAF2"/>
                </a:solidFill>
                <a:latin typeface="Calibri"/>
              </a:rPr>
              <a:t> under model risk — first internal proof point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ED232A"/>
                </a:solidFill>
                <a:latin typeface="Calibri"/>
              </a:rPr>
              <a:t>■  </a:t>
            </a:r>
            <a:r>
              <a:rPr sz="1400" b="0">
                <a:solidFill>
                  <a:srgbClr val="E6EAF2"/>
                </a:solidFill>
                <a:latin typeface="Calibri"/>
              </a:rPr>
              <a:t>Stand up tier-2 shadow-mode infra against the live fraud pipeline (no customer impact)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ED232A"/>
                </a:solidFill>
                <a:latin typeface="Calibri"/>
              </a:rPr>
              <a:t>■  </a:t>
            </a:r>
            <a:r>
              <a:rPr sz="1400" b="0">
                <a:solidFill>
                  <a:srgbClr val="E6EAF2"/>
                </a:solidFill>
                <a:latin typeface="Calibri"/>
              </a:rPr>
              <a:t>Quarterly board update at the next Risk &amp; Technology Sub-committee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F5B72E"/>
                </a:solidFill>
                <a:latin typeface="Calibri"/>
              </a:rPr>
              <a:t>We are not asking for moonshot money. We are asking for a measured 24-month bet, with off-ramps every 6 months.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AA5BC"/>
                </a:solidFill>
                <a:latin typeface="Calibri"/>
              </a:rPr>
              <a:t>HDFC Bank • Quantum Computing Strategy •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AA5BC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96012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Appendix — the technical detail (for the architects)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9525"/>
          </a:xfrm>
          <a:prstGeom prst="rect">
            <a:avLst/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dfc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365760"/>
            <a:ext cx="132588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AA5BC"/>
                </a:solidFill>
                <a:latin typeface="Calibri"/>
              </a:rPr>
              <a:t>HDFC Bank • Quantum Computing Strategy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AA5BC"/>
                </a:solidFill>
                <a:latin typeface="Calibri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0020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EC4B6"/>
                </a:solidFill>
                <a:latin typeface="Calibri"/>
              </a:rPr>
              <a:t>DATA → QUANTUM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5212080" cy="4206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2EC4B6"/>
                </a:solidFill>
                <a:latin typeface="Calibri"/>
              </a:rPr>
              <a:t>■  </a:t>
            </a:r>
            <a:r>
              <a:rPr sz="1100" b="1">
                <a:solidFill>
                  <a:srgbClr val="E6EAF2"/>
                </a:solidFill>
                <a:latin typeface="Calibri"/>
              </a:rPr>
              <a:t>StandardScaler</a:t>
            </a:r>
            <a:r>
              <a:rPr sz="1100" b="0">
                <a:solidFill>
                  <a:srgbClr val="E6EAF2"/>
                </a:solidFill>
                <a:latin typeface="Calibri"/>
              </a:rPr>
              <a:t> zero-mean, unit-variance — stable Hilbert-space embedding.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2EC4B6"/>
                </a:solidFill>
                <a:latin typeface="Calibri"/>
              </a:rPr>
              <a:t>■  </a:t>
            </a:r>
            <a:r>
              <a:rPr sz="1100" b="1">
                <a:solidFill>
                  <a:srgbClr val="E6EAF2"/>
                </a:solidFill>
                <a:latin typeface="Calibri"/>
              </a:rPr>
              <a:t>SMOTE</a:t>
            </a:r>
            <a:r>
              <a:rPr sz="1100" b="0">
                <a:solidFill>
                  <a:srgbClr val="E6EAF2"/>
                </a:solidFill>
                <a:latin typeface="Calibri"/>
              </a:rPr>
              <a:t> synthetic minority over-sampling for severe imbalance (only on train).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2EC4B6"/>
                </a:solidFill>
                <a:latin typeface="Calibri"/>
              </a:rPr>
              <a:t>■  </a:t>
            </a:r>
            <a:r>
              <a:rPr sz="1100" b="1">
                <a:solidFill>
                  <a:srgbClr val="E6EAF2"/>
                </a:solidFill>
                <a:latin typeface="Calibri"/>
              </a:rPr>
              <a:t>PCA(k=6)</a:t>
            </a:r>
            <a:r>
              <a:rPr sz="1100" b="0">
                <a:solidFill>
                  <a:srgbClr val="E6EAF2"/>
                </a:solidFill>
                <a:latin typeface="Calibri"/>
              </a:rPr>
              <a:t> dimensionality match to qubit count; ~75% variance retained.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2EC4B6"/>
                </a:solidFill>
                <a:latin typeface="Calibri"/>
              </a:rPr>
              <a:t>■  </a:t>
            </a:r>
            <a:r>
              <a:rPr sz="1100" b="1">
                <a:solidFill>
                  <a:srgbClr val="E6EAF2"/>
                </a:solidFill>
                <a:latin typeface="Calibri"/>
              </a:rPr>
              <a:t>Angle scaling</a:t>
            </a:r>
            <a:r>
              <a:rPr sz="1100" b="0">
                <a:solidFill>
                  <a:srgbClr val="E6EAF2"/>
                </a:solidFill>
                <a:latin typeface="Calibri"/>
              </a:rPr>
              <a:t> to [−π, π] for ZZFeatureMap encoding.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2EC4B6"/>
                </a:solidFill>
                <a:latin typeface="Calibri"/>
              </a:rPr>
              <a:t>■  </a:t>
            </a:r>
            <a:r>
              <a:rPr sz="1100" b="1">
                <a:solidFill>
                  <a:srgbClr val="E6EAF2"/>
                </a:solidFill>
                <a:latin typeface="Calibri"/>
              </a:rPr>
              <a:t>ZZFeatureMap</a:t>
            </a:r>
            <a:r>
              <a:rPr sz="1100" b="0">
                <a:solidFill>
                  <a:srgbClr val="E6EAF2"/>
                </a:solidFill>
                <a:latin typeface="Calibri"/>
              </a:rPr>
              <a:t> RZ(2x_i) + RZZ(2(π−x_i)(π−x_j)) over linear / circular / full entanglement.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2EC4B6"/>
                </a:solidFill>
                <a:latin typeface="Calibri"/>
              </a:rPr>
              <a:t>■  </a:t>
            </a:r>
            <a:r>
              <a:rPr sz="1100" b="1">
                <a:solidFill>
                  <a:srgbClr val="E6EAF2"/>
                </a:solidFill>
                <a:latin typeface="Calibri"/>
              </a:rPr>
              <a:t>EfficientSU2</a:t>
            </a:r>
            <a:r>
              <a:rPr sz="1100" b="0">
                <a:solidFill>
                  <a:srgbClr val="E6EAF2"/>
                </a:solidFill>
                <a:latin typeface="Calibri"/>
              </a:rPr>
              <a:t> trainable ansatz, (2·reps+1)·n_qubits parameters.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2EC4B6"/>
                </a:solidFill>
                <a:latin typeface="Calibri"/>
              </a:rPr>
              <a:t>■  </a:t>
            </a:r>
            <a:r>
              <a:rPr sz="1100" b="1">
                <a:solidFill>
                  <a:srgbClr val="E6EAF2"/>
                </a:solidFill>
                <a:latin typeface="Calibri"/>
              </a:rPr>
              <a:t>Parity decoder</a:t>
            </a:r>
            <a:r>
              <a:rPr sz="1100" b="0">
                <a:solidFill>
                  <a:srgbClr val="E6EAF2"/>
                </a:solidFill>
                <a:latin typeface="Calibri"/>
              </a:rPr>
              <a:t> → P(fraud) calibrated via temperature scaling.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0020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D232A"/>
                </a:solidFill>
                <a:latin typeface="Calibri"/>
              </a:rPr>
              <a:t>TRAIN → 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5212080" cy="4206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ED232A"/>
                </a:solidFill>
                <a:latin typeface="Calibri"/>
              </a:rPr>
              <a:t>■  </a:t>
            </a:r>
            <a:r>
              <a:rPr sz="1100" b="1">
                <a:solidFill>
                  <a:srgbClr val="E6EAF2"/>
                </a:solidFill>
                <a:latin typeface="Calibri"/>
              </a:rPr>
              <a:t>Optimizer</a:t>
            </a:r>
            <a:r>
              <a:rPr sz="1100" b="0">
                <a:solidFill>
                  <a:srgbClr val="E6EAF2"/>
                </a:solidFill>
                <a:latin typeface="Calibri"/>
              </a:rPr>
              <a:t>: SPSA (gradient-free, robust to noise) or COBYLA.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ED232A"/>
                </a:solidFill>
                <a:latin typeface="Calibri"/>
              </a:rPr>
              <a:t>■  </a:t>
            </a:r>
            <a:r>
              <a:rPr sz="1100" b="1">
                <a:solidFill>
                  <a:srgbClr val="E6EAF2"/>
                </a:solidFill>
                <a:latin typeface="Calibri"/>
              </a:rPr>
              <a:t>Quantum kernel</a:t>
            </a:r>
            <a:r>
              <a:rPr sz="1100" b="0">
                <a:solidFill>
                  <a:srgbClr val="E6EAF2"/>
                </a:solidFill>
                <a:latin typeface="Calibri"/>
              </a:rPr>
              <a:t>: K(x_i, x_j) = |⟨φ(x_i)|φ(x_j)⟩|²; classical SVM trained on Gram matrix.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ED232A"/>
                </a:solidFill>
                <a:latin typeface="Calibri"/>
              </a:rPr>
              <a:t>■  </a:t>
            </a:r>
            <a:r>
              <a:rPr sz="1100" b="1">
                <a:solidFill>
                  <a:srgbClr val="E6EAF2"/>
                </a:solidFill>
                <a:latin typeface="Calibri"/>
              </a:rPr>
              <a:t>PegasosQSVC</a:t>
            </a:r>
            <a:r>
              <a:rPr sz="1100" b="0">
                <a:solidFill>
                  <a:srgbClr val="E6EAF2"/>
                </a:solidFill>
                <a:latin typeface="Calibri"/>
              </a:rPr>
              <a:t>: stochastic gradient variant for faster training at scale.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ED232A"/>
                </a:solidFill>
                <a:latin typeface="Calibri"/>
              </a:rPr>
              <a:t>■  </a:t>
            </a:r>
            <a:r>
              <a:rPr sz="1100" b="1">
                <a:solidFill>
                  <a:srgbClr val="E6EAF2"/>
                </a:solidFill>
                <a:latin typeface="Calibri"/>
              </a:rPr>
              <a:t>Simulator</a:t>
            </a:r>
            <a:r>
              <a:rPr sz="1100" b="0">
                <a:solidFill>
                  <a:srgbClr val="E6EAF2"/>
                </a:solidFill>
                <a:latin typeface="Calibri"/>
              </a:rPr>
              <a:t>: Qiskit Aer + GPU; </a:t>
            </a:r>
            <a:r>
              <a:rPr sz="1100" b="1">
                <a:solidFill>
                  <a:srgbClr val="E6EAF2"/>
                </a:solidFill>
                <a:latin typeface="Calibri"/>
              </a:rPr>
              <a:t>Hardware</a:t>
            </a:r>
            <a:r>
              <a:rPr sz="1100" b="0">
                <a:solidFill>
                  <a:srgbClr val="E6EAF2"/>
                </a:solidFill>
                <a:latin typeface="Calibri"/>
              </a:rPr>
              <a:t>: IBM Brisbane / Kyoto via Qiskit Runtime SamplerV2.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ED232A"/>
                </a:solidFill>
                <a:latin typeface="Calibri"/>
              </a:rPr>
              <a:t>■  </a:t>
            </a:r>
            <a:r>
              <a:rPr sz="1100" b="1">
                <a:solidFill>
                  <a:srgbClr val="E6EAF2"/>
                </a:solidFill>
                <a:latin typeface="Calibri"/>
              </a:rPr>
              <a:t>ISA-aware transpilation</a:t>
            </a:r>
            <a:r>
              <a:rPr sz="1100" b="0">
                <a:solidFill>
                  <a:srgbClr val="E6EAF2"/>
                </a:solidFill>
                <a:latin typeface="Calibri"/>
              </a:rPr>
              <a:t> at level 3 for hardware-efficient gate decomposition.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ED232A"/>
                </a:solidFill>
                <a:latin typeface="Calibri"/>
              </a:rPr>
              <a:t>■  </a:t>
            </a:r>
            <a:r>
              <a:rPr sz="1100" b="1">
                <a:solidFill>
                  <a:srgbClr val="E6EAF2"/>
                </a:solidFill>
                <a:latin typeface="Calibri"/>
              </a:rPr>
              <a:t>Serving</a:t>
            </a:r>
            <a:r>
              <a:rPr sz="1100" b="0">
                <a:solidFill>
                  <a:srgbClr val="E6EAF2"/>
                </a:solidFill>
                <a:latin typeface="Calibri"/>
              </a:rPr>
              <a:t>: Tier-2 async re-scorer behind Kafka, Triton-style queue, 100% feature parity with Tier-1.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ED232A"/>
                </a:solidFill>
                <a:latin typeface="Calibri"/>
              </a:rPr>
              <a:t>■  </a:t>
            </a:r>
            <a:r>
              <a:rPr sz="1100" b="1">
                <a:solidFill>
                  <a:srgbClr val="E6EAF2"/>
                </a:solidFill>
                <a:latin typeface="Calibri"/>
              </a:rPr>
              <a:t>Reference repo</a:t>
            </a:r>
            <a:r>
              <a:rPr sz="1100" b="0">
                <a:solidFill>
                  <a:srgbClr val="E6EAF2"/>
                </a:solidFill>
                <a:latin typeface="Calibri"/>
              </a:rPr>
              <a:t>: github.com/kranthimj23/Quantum-credit-card-fraud-detection — 7 scripts + Streamlit dashboard + interactive tutorial.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96012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Appendix — glossary for the 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9525"/>
          </a:xfrm>
          <a:prstGeom prst="rect">
            <a:avLst/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dfc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365760"/>
            <a:ext cx="132588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AA5BC"/>
                </a:solidFill>
                <a:latin typeface="Calibri"/>
              </a:rPr>
              <a:t>HDFC Bank • Quantum Computing Strategy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AA5BC"/>
                </a:solidFill>
                <a:latin typeface="Calibri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17320"/>
            <a:ext cx="5623560" cy="713232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490472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5B72E"/>
                </a:solidFill>
                <a:latin typeface="Calibri"/>
              </a:rPr>
              <a:t>Qubit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1490472"/>
            <a:ext cx="35661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Quantum bit — holds 0 and 1 simultaneously, weighted by amplitudes.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417320"/>
            <a:ext cx="5623560" cy="713232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490472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5B72E"/>
                </a:solidFill>
                <a:latin typeface="Calibri"/>
              </a:rPr>
              <a:t>Superposition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1490472"/>
            <a:ext cx="35661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A qubit's state is a weighted sum of basis states; N qubits encode 2ˣ amplitudes.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185416"/>
            <a:ext cx="5623560" cy="713232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258568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5B72E"/>
                </a:solidFill>
                <a:latin typeface="Calibri"/>
              </a:rPr>
              <a:t>Entanglement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258568"/>
            <a:ext cx="35661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Joint quantum state that cannot be split into independent qubit states — carries feature-interaction information.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185416"/>
            <a:ext cx="5623560" cy="713232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258568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5B72E"/>
                </a:solidFill>
                <a:latin typeface="Calibri"/>
              </a:rPr>
              <a:t>VQC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258568"/>
            <a:ext cx="35661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Variational Quantum Classifier — quantum circuit with trainable parameters, optimised classically.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953512"/>
            <a:ext cx="5623560" cy="713232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026664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5B72E"/>
                </a:solidFill>
                <a:latin typeface="Calibri"/>
              </a:rPr>
              <a:t>ZZFeatureMap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3026664"/>
            <a:ext cx="35661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Standard data-encoding circuit; RZ rotations + RZZ entanglers represent pairwise feature interactions.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2953512"/>
            <a:ext cx="5623560" cy="713232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3026664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5B72E"/>
                </a:solidFill>
                <a:latin typeface="Calibri"/>
              </a:rPr>
              <a:t>EfficientSU2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026664"/>
            <a:ext cx="35661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Hardware-efficient trainable ansatz; rotations + CX entanglers stacked for a fixed number of repetitions.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721608"/>
            <a:ext cx="5623560" cy="713232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794760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5B72E"/>
                </a:solidFill>
                <a:latin typeface="Calibri"/>
              </a:rPr>
              <a:t>QSVC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3794760"/>
            <a:ext cx="35661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Quantum Support Vector Classifier — SVM with kernel evaluated on a quantum computer.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721608"/>
            <a:ext cx="5623560" cy="713232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3794760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5B72E"/>
                </a:solidFill>
                <a:latin typeface="Calibri"/>
              </a:rPr>
              <a:t>Hilbert space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3794760"/>
            <a:ext cx="35661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The vector space in which quantum states live; dimension grows as 2ˣ with qubits.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489704"/>
            <a:ext cx="5623560" cy="713232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562856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5B72E"/>
                </a:solidFill>
                <a:latin typeface="Calibri"/>
              </a:rPr>
              <a:t>AUC-ROC / PR-AUC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40" y="4562856"/>
            <a:ext cx="35661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Standard ranking metrics for fraud models; PR-AUC is the relevant one under heavy class imbalance.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0" y="4489704"/>
            <a:ext cx="5623560" cy="713232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4562856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5B72E"/>
                </a:solidFill>
                <a:latin typeface="Calibri"/>
              </a:rPr>
              <a:t>Recall @ 1% FPR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4562856"/>
            <a:ext cx="35661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Fraction of fraud caught while keeping false-positive rate to 1% of legitimate volume — the operations-relevant metric.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257800"/>
            <a:ext cx="5623560" cy="713232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5330952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5B72E"/>
                </a:solidFill>
                <a:latin typeface="Calibri"/>
              </a:rPr>
              <a:t>Hybrid serving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77440" y="5330952"/>
            <a:ext cx="35661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Production architecture mixing classical and quantum inference; classical handles throughput, quantum handles precision.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26480" y="5257800"/>
            <a:ext cx="5623560" cy="713232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5330952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5B72E"/>
                </a:solidFill>
                <a:latin typeface="Calibri"/>
              </a:rPr>
              <a:t>NISQ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5330952"/>
            <a:ext cx="35661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Noisy Intermediate-Scale Quantum — the current hardware era (50–1000 noisy qubits, no full error correction).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