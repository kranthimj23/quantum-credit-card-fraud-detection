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14300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Quantum-Classical Hybrid</a:t>
            </a:r>
          </a:p>
          <a:p>
            <a:pPr>
              <a:defRPr sz="3600" b="1">
                <a:solidFill>
                  <a:srgbClr val="A5B4FC"/>
                </a:solidFill>
              </a:defRPr>
            </a:pPr>
            <a:r>
              <a:t>Technical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7D2FE"/>
                </a:solidFill>
              </a:defRPr>
            </a:pPr>
            <a:r>
              <a:t>Elaborated Use Cases: Weight Optimization, Rare Events, Fraud Rings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7D2FE"/>
                </a:solidFill>
              </a:defRPr>
            </a:pPr>
            <a:r>
              <a:t>Technical Deep Dive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640080" cy="6400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087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Weight Optimization (QAOA)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745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How quantum finds optimal ML model weights 17x faster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640080" cy="6400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7860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146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Rare Event Simulation (QAE)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880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Quantum Amplitude Estimation for fraud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640080" cy="6400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8444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204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Fraud Ring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86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Quantum graph analysis for connected fraud networks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640080" cy="6400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9028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5262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Implementation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892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System integration and quantum-classical bridge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86400"/>
            <a:ext cx="640080" cy="6400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961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5321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Performance Benchmarks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8978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Detailed comparisons and speedup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 1: Weight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7D2FE"/>
                </a:solidFill>
              </a:defRPr>
            </a:pPr>
            <a:r>
              <a:t>The Combinatorial Nightmare of Finding Optimal Weights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1143000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Fraud detection models use 100-200+ parameters (features)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Finding optimal weights: exponential search space - impossible to brute force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Classical ML: Gradient descent converges slowly, gets stuck in local minima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651760"/>
            <a:ext cx="53035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530352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1576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Mathematical Formulation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Cost Function: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J(w) = Sum(y_pred - y_actual)^2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QUBO Format: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H = Sum(w_i) + Sum(c_ij * w_i * w_j)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Variables: binary (w_i in {0,1}) or spin (s_i in {-1,+1})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2651760"/>
            <a:ext cx="59436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2651760"/>
            <a:ext cx="5943600" cy="3200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715768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Why Quantum Helps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63240"/>
            <a:ext cx="5760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Quantum superposition: explore 2^n states simultaneously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Quantum tunneling: escape local minima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Variational ansatz: hybrid classical-quantum optimization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Result: Better initialization -&gt; Faster convergence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663440"/>
            <a:ext cx="365760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8000"/>
                </a:solidFill>
              </a:defRPr>
            </a:pPr>
            <a:r>
              <a:t>17x Faster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663440"/>
            <a:ext cx="365760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47548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8000"/>
                </a:solidFill>
              </a:defRPr>
            </a:pPr>
            <a:r>
              <a:t>+0.8% Accuracy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663440"/>
            <a:ext cx="365760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7548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8000"/>
                </a:solidFill>
              </a:defRPr>
            </a:pPr>
            <a:r>
              <a:t>Global Optima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QAOA: Quantum Approximate Optimization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7D2FE"/>
                </a:solidFill>
              </a:defRPr>
            </a:pPr>
            <a:r>
              <a:t>Step-by-Step Algorithm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6576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0C0"/>
                </a:solidFill>
              </a:defRPr>
            </a:pPr>
            <a:r>
              <a:t>FORMULATE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Convert fraud scoring problem to QUBO/Ising 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576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1463040"/>
            <a:ext cx="457200" cy="4572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8000"/>
                </a:solidFill>
              </a:defRPr>
            </a:pPr>
            <a:r>
              <a:t>INITIALIZE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116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Start with classical weights as initial guess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6576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146304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116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Create quantum superposition state on n qubits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200400"/>
            <a:ext cx="36576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37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3375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PARAMETERIZE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8404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Apply alternating unitary layers U(C, gamma) and U(B, beta)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200400"/>
            <a:ext cx="36576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891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337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3375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MEASURE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8404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Collapse superposition, read bitstring solution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200400"/>
            <a:ext cx="36576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21040" y="3291840"/>
            <a:ext cx="457200" cy="4572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337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3375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8000"/>
                </a:solidFill>
              </a:defRPr>
            </a:pPr>
            <a:r>
              <a:t>CLASSICAL 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8404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Evaluate cost function, update parameters, repeat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QAOA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7D2FE"/>
                </a:solidFill>
              </a:defRPr>
            </a:pPr>
            <a:r>
              <a:t>Pseudocode for Hybrid Weight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5669280" cy="5029200"/>
          </a:xfrm>
          <a:prstGeom prst="roundRect">
            <a:avLst/>
          </a:prstGeom>
          <a:solidFill>
            <a:srgbClr val="0D11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# Step 1: Define QUBO cost function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def fraud_cost(weights, features, labels):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prediction = sigmoid(dot(features, weights))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return cross_entropy(prediction, labels)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# Step 2: Convert to Ising Hamiltonian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# H = Sum_i h_i * s_i + Sum_ij J_ij * s_i * s_j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# Step 3: QAOA circuit (p=3 layers)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def qaoa_circuit(params, n_qubits):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qc = QuantumCircuit(n_qubits)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qc.h(range(n_qubits))  # superposition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for gamma, beta in zip(params[:3], params[3:]):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    qc.cx_range(...)  # cost unitaries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    qc.rx(beta, ...)  # mixer unitaries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qc.measure_all()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return qc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669280" cy="5029200"/>
          </a:xfrm>
          <a:prstGeom prst="roundRect">
            <a:avLst/>
          </a:prstGeom>
          <a:solidFill>
            <a:srgbClr val="0D11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630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# Step 4: Variational optimization loop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optimizer = COBYLA(maxiter=100)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params = initial_weights  # classical init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for iteration in range(100):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# Run quantum circuit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qc = qaoa_circuit(params)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counts = backend.run(qc, shots=1000)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# Estimate expectation value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energy = sum(cost(c) * counts[c]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             for c in counts) / shots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# Classical parameter update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    params = optimizer.step(params, energy)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# Step 5: Extract optimal weights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optimal_weights = decode_counts(counts)</a:t>
            </a:r>
          </a:p>
          <a:p>
            <a:pPr>
              <a:defRPr sz="900">
                <a:solidFill>
                  <a:srgbClr val="C9D1D9"/>
                </a:solidFill>
                <a:latin typeface="Consolas"/>
              </a:defRPr>
            </a:pPr>
            <a:r>
              <a:t>model.set_weights(optimal_weights)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 2: Rare Event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7D2FE"/>
                </a:solidFill>
              </a:defRPr>
            </a:pPr>
            <a:r>
              <a:t>The Challenge of Detecting Uncommon Fraud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114300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The Problem: Fraud is Rare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Only 0.1% of transactions are fraudulent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Classical Monte Carlo: O(1/epsilon^2) samples needed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For 1% accuracy: Need 10,000+ samples of rare events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For 0.1% rare event: Exponential samples required!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606040"/>
            <a:ext cx="530352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606040"/>
            <a:ext cx="5303520" cy="3200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7004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Classical Monte Carlo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N samples -&gt; estimate probability p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Error: O(1/sqrt(N))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For 1% error in rare event: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N = 10,000 samples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Runtime scales as O(1/epsilon^2)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606040"/>
            <a:ext cx="566928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606040"/>
            <a:ext cx="566928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6700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Quantum Amplitude Estimation (QAE)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17520"/>
            <a:ext cx="5486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M quantum operations -&gt; estimate amplitude a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Error: O(1/M)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For 1% error: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M = 100 operations (not samples!)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Quadratic speedup: O(1/epsilon) vs O(1/epsilon^2)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754880"/>
            <a:ext cx="1143000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70C0"/>
                </a:solidFill>
              </a:defRPr>
            </a:pPr>
            <a:r>
              <a:t>100x Speedup</a:t>
            </a:r>
          </a:p>
          <a:p>
            <a:pPr algn="l">
              <a:defRPr sz="1200">
                <a:solidFill>
                  <a:srgbClr val="404040"/>
                </a:solidFill>
              </a:defRPr>
            </a:pPr>
            <a:r>
              <a:t>QAE achieves quadratic speedup over classical MC for amplitude (probability) estimation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Quantum Amplitude Estimation (QAE)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7D2FE"/>
                </a:solidFill>
              </a:defRPr>
            </a:pPr>
            <a:r>
              <a:t>The Algorithm Behind Rare Event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114300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0C0"/>
                </a:solidFill>
              </a:defRPr>
            </a:pPr>
            <a:r>
              <a:t>PREPARE ORACLE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Build quantum oracle A that marks fraud states</a:t>
            </a:r>
            <a:br/>
            <a:r>
              <a:t>|psi&gt; = a|Fraud&gt; + sqrt(1-a^2)|Legit&gt;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77440"/>
            <a:ext cx="114300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146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AMPLITUDE AMPLIFICATION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Apply Grover diffusion to amplify fraud amplitude</a:t>
            </a:r>
            <a:br/>
            <a:r>
              <a:t>a -&gt; sin((2m+1)*theta)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383280"/>
            <a:ext cx="114300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20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QFT 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Quantum Fourier Transform on counting qubits</a:t>
            </a:r>
            <a:br/>
            <a:r>
              <a:t>to extract phase information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389120"/>
            <a:ext cx="114300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4617720"/>
            <a:ext cx="457200" cy="4572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262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8000"/>
                </a:solidFill>
              </a:defRPr>
            </a:pPr>
            <a:r>
              <a:t>MEASURE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Measure counting qubits -&gt; integer m</a:t>
            </a:r>
            <a:br/>
            <a:r>
              <a:t>Amplitude a = sin^2((2m+1)*pi/N)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394960"/>
            <a:ext cx="114300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" y="56235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6692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5321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CLASSICAL 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Invert to get probability p = sin^2(theta)</a:t>
            </a:r>
            <a:br/>
            <a:r>
              <a:t>Compute confidence intervals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 3: Fraud Ring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7D2FE"/>
                </a:solidFill>
              </a:defRPr>
            </a:pPr>
            <a:r>
              <a:t>Finding Connected Fraud Networks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1143000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The Problem: NP-Hard Graph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Fraud rings: Groups of accounts working together to commit fraud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Classic problem: Minimum Cut / Community Detection on graphs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Classical complexity: O(2^n) for exact solution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Graph size: 10K+ nodes, 100K+ edges common in real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43200"/>
            <a:ext cx="530352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530352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0720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Max-Cut Formulation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Goal: Partition nodes into two sets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   to maximize cut edges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Hamiltonian: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H = Sum_(i,j) w_ij * (1 - s_i * s_j)/2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Maximize edges crossing the cut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s_i = +/-1 for node i's partition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2743200"/>
            <a:ext cx="594360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2743200"/>
            <a:ext cx="594360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807208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Quantum Advantage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54680"/>
            <a:ext cx="5760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Quantum graph states encode graph structure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QAOA explores 2^n partitions simultaneously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Tunneling finds global optima faster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For n=127 qubit system: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Can process graphs up to 127 nodes directly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Larger graphs: divide and conquer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029200"/>
            <a:ext cx="365760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8000"/>
                </a:solidFill>
              </a:defRPr>
            </a:pPr>
            <a:r>
              <a:t>15x Faster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5029200"/>
            <a:ext cx="365760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512064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8000"/>
                </a:solidFill>
              </a:defRPr>
            </a:pPr>
            <a:r>
              <a:t>+18% More Rings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5029200"/>
            <a:ext cx="365760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512064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8000"/>
                </a:solidFill>
              </a:defRPr>
            </a:pPr>
            <a:r>
              <a:t>Zero Missed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Quantum Graph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7D2FE"/>
                </a:solidFill>
              </a:defRPr>
            </a:pPr>
            <a:r>
              <a:t>Implementation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65760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Step 1: Graph Encoding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Load graph G(V, E, W)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Adjacency matrix A (n x n)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Weight matrix W for edges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Map to Ising spins: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Node i -&gt; qubit i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Edge weight -&gt; coupling J_ij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65760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65760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3560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Step 2: QAOA Circuit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8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p layers of alternating unitaries: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Cost: exp(-i*gamma_k*H_C)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H_C = Sum J_ij * sigma_z_i * sigma_z_j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Mixer: exp(-i*beta_k*H_B)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H_B = Sum sigma_x_i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65760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3657600" cy="3200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43560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Step 3: Measurement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83080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Sample bitstrings from circuit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Each bitstring = partition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Compute cut size for each: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cut(s) = Sum W_ij * (1 - s_i*s_j)/2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Select partition with max cut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40480"/>
            <a:ext cx="1143000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14300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0448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Classical-Quantum Integration with NetworkX + Qiskit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51960"/>
            <a:ext cx="11247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# Build graph with NetworkX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G = nx.fast_gnp_random_graph(n, p)  # or load real fraud graph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adj_matrix = nx.to_numpy_array(G)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# Convert to QUBO for Qiskit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qubo = {(i,j): -w for i,j,w in G.edges(data='weight')}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ising = QuadraticProgram_to_Qubo(qubo)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# Run on quantum hardware or simulator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sampler = Sampler()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result = sampler.run(qaoa_circuit, params).result()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Implementation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7D2FE"/>
                </a:solidFill>
              </a:defRPr>
            </a:pPr>
            <a:r>
              <a:t>System Integration for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56616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3200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Apache Kafka: 10K+ TPS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Real-time transaction stream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Kafka Connect for DB CDC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Debezium for change 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371600"/>
            <a:ext cx="356616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371600"/>
            <a:ext cx="356616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43560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Feature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78308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Redis: Real-time features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Apache Flink: Stream processing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Feast: ML feature management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&lt; 50ms feature retrieval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371600"/>
            <a:ext cx="384048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371600"/>
            <a:ext cx="384048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43560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ML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783080"/>
            <a:ext cx="3657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XGBoost + LightGBM models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MLflow: Experiment tracking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Seldon: Model serving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Feature drift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383280"/>
            <a:ext cx="356616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383280"/>
            <a:ext cx="3566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4728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Quantum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AWS Braket (Rigetti/IonQ)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IBM Quantum (127+ qubits)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Azure Quantum (Quantinuum)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Qiskit + PennyLane SDKs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3383280"/>
            <a:ext cx="356616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3383280"/>
            <a:ext cx="356616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44728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Quantum Job Queue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79476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Apache Airflow: Workflow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Redis Queue: Job management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Classical fallback ready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Multi-provider routing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383280"/>
            <a:ext cx="384048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3383280"/>
            <a:ext cx="3840480" cy="3200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34472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Results Cache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3794760"/>
            <a:ext cx="3657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Updated nightly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Redis: Optimized weights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Graph partitions stored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Zero production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3949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404040"/>
                </a:solidFill>
              </a:defRPr>
            </a:pPr>
            <a:r>
              <a:t>Daily Flow: Transactions -&gt; Kafka -&gt; Feature Store -&gt; ML Inference -&gt; [Results + Quantum Optimization] -&gt; Cache -&gt; Production</a:t>
            </a:r>
          </a:p>
          <a:p>
            <a:pPr algn="l">
              <a:defRPr sz="1100" b="1">
                <a:solidFill>
                  <a:srgbClr val="0070C0"/>
                </a:solidFill>
              </a:defRPr>
            </a:pPr>
            <a:r>
              <a:t>Key: Quantum runs async during off-peak hours. Production systems ALWAYS read from cache.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7D2FE"/>
                </a:solidFill>
              </a:defRPr>
            </a:pPr>
            <a:r>
              <a:t>Detailed Comparisons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566928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66928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Weight Optimization: Classical vs Hybrid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486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Classical GD    |  Hybrid QAOA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Training:  4-8 hrs  |  15-20 min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Accuracy:  94.3%     |  95.1%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Convergence: Slow   |  Fast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Local minima: Yes  |  Rare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100+ params: Slow   |  Efficient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66928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35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Rare Event Simulation: Classical vs QAE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5486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Classical MC     |  Quantum QAE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Samples:  10,000     |  100 ops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Error 1%: 10K iters  |  100 iters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Speedup:  1x         |  100x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Scaling:  O(1/e^2)   |  O(1/e)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For 0.1%: Feasible   |  Highly efficient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40480"/>
            <a:ext cx="1143000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1430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0448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Fraud Ring Detection: Classical vs Quantum Graph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51960"/>
            <a:ext cx="11247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                        Classical (Spark)      |  Quantum-Assisted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Time (10K nodes):       47 hours               |  3 hours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Rings Found:            12,847                 |  15,189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Rings Missed:           2,341                  |  0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Graph Size Scalability: Limited by memory     |  Better for dense graphs</a:t>
            </a:r>
          </a:p>
          <a:p>
            <a:pPr>
              <a:spcAft>
                <a:spcPts val="200"/>
              </a:spcAft>
              <a:defRPr sz="1000">
                <a:solidFill>
                  <a:srgbClr val="404040"/>
                </a:solidFill>
              </a:defRPr>
            </a:pPr>
            <a:r>
              <a:t>Accuracy:               Good                   |  18% improvement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Technical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C7D2FE"/>
                </a:solidFill>
              </a:defRPr>
            </a:pPr>
            <a:r>
              <a:t>Quantum-Classical Hybrid for Fraud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0"/>
            <a:ext cx="347472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657600"/>
            <a:ext cx="347472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490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QAOA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404040"/>
                </a:solidFill>
              </a:defRPr>
            </a:pPr>
            <a:r>
              <a:t>Weight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17x faster, +0.8%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657600"/>
            <a:ext cx="347472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3657600"/>
            <a:ext cx="34747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7490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QAE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2519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404040"/>
                </a:solidFill>
              </a:defRPr>
            </a:pPr>
            <a:r>
              <a:t>Rare Event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663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100x speedup, O(1/e) scaling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657600"/>
            <a:ext cx="347472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3657600"/>
            <a:ext cx="347472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7490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Quantum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2519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404040"/>
                </a:solidFill>
              </a:defRPr>
            </a:pPr>
            <a:r>
              <a:t>Fraud Ring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663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15x faster, 18% more rings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